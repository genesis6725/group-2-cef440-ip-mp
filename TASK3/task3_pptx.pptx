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Red Hat Display" charset="1" panose="02010503040201060303"/>
      <p:regular r:id="rId17"/>
    </p:embeddedFont>
    <p:embeddedFont>
      <p:font typeface="Red Hat Display Bold" charset="1" panose="02010803040201060303"/>
      <p:regular r:id="rId18"/>
    </p:embeddedFont>
    <p:embeddedFont>
      <p:font typeface="Roboto Slab Bold" charset="1" panose="00000000000000000000"/>
      <p:regular r:id="rId19"/>
    </p:embeddedFont>
    <p:embeddedFont>
      <p:font typeface="Roboto Slab"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8760629" y="-2095015"/>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68185" y="2136222"/>
            <a:ext cx="6925852" cy="6014556"/>
          </a:xfrm>
          <a:custGeom>
            <a:avLst/>
            <a:gdLst/>
            <a:ahLst/>
            <a:cxnLst/>
            <a:rect r="r" b="b" t="t" l="l"/>
            <a:pathLst>
              <a:path h="6014556" w="6925852">
                <a:moveTo>
                  <a:pt x="0" y="0"/>
                </a:moveTo>
                <a:lnTo>
                  <a:pt x="6925852" y="0"/>
                </a:lnTo>
                <a:lnTo>
                  <a:pt x="6925852" y="6014556"/>
                </a:lnTo>
                <a:lnTo>
                  <a:pt x="0" y="6014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35325">
            <a:off x="-1336143" y="6923321"/>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26878">
            <a:off x="-216283" y="-1085938"/>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830696">
            <a:off x="12315724" y="82296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506721" y="4454974"/>
            <a:ext cx="5756398" cy="948660"/>
          </a:xfrm>
          <a:prstGeom prst="rect">
            <a:avLst/>
          </a:prstGeom>
        </p:spPr>
        <p:txBody>
          <a:bodyPr anchor="t" rtlCol="false" tIns="0" lIns="0" bIns="0" rIns="0">
            <a:spAutoFit/>
          </a:bodyPr>
          <a:lstStyle/>
          <a:p>
            <a:pPr algn="ctr">
              <a:lnSpc>
                <a:spcPts val="3886"/>
              </a:lnSpc>
            </a:pPr>
            <a:r>
              <a:rPr lang="en-US" sz="2776">
                <a:solidFill>
                  <a:srgbClr val="5B7ABE"/>
                </a:solidFill>
                <a:latin typeface="Red Hat Display"/>
                <a:ea typeface="Red Hat Display"/>
                <a:cs typeface="Red Hat Display"/>
                <a:sym typeface="Red Hat Display"/>
              </a:rPr>
              <a:t>TASK</a:t>
            </a:r>
            <a:r>
              <a:rPr lang="en-US" sz="2776">
                <a:solidFill>
                  <a:srgbClr val="5B7ABE"/>
                </a:solidFill>
                <a:latin typeface="Red Hat Display"/>
                <a:ea typeface="Red Hat Display"/>
                <a:cs typeface="Red Hat Display"/>
                <a:sym typeface="Red Hat Display"/>
              </a:rPr>
              <a:t> 3: REQUIREMENT ANALYSIS</a:t>
            </a:r>
          </a:p>
          <a:p>
            <a:pPr algn="ctr">
              <a:lnSpc>
                <a:spcPts val="3886"/>
              </a:lnSpc>
            </a:pPr>
          </a:p>
        </p:txBody>
      </p:sp>
      <p:sp>
        <p:nvSpPr>
          <p:cNvPr name="TextBox 8" id="8"/>
          <p:cNvSpPr txBox="true"/>
          <p:nvPr/>
        </p:nvSpPr>
        <p:spPr>
          <a:xfrm rot="0">
            <a:off x="382560" y="1807108"/>
            <a:ext cx="8114734" cy="2695491"/>
          </a:xfrm>
          <a:prstGeom prst="rect">
            <a:avLst/>
          </a:prstGeom>
        </p:spPr>
        <p:txBody>
          <a:bodyPr anchor="t" rtlCol="false" tIns="0" lIns="0" bIns="0" rIns="0">
            <a:spAutoFit/>
          </a:bodyPr>
          <a:lstStyle/>
          <a:p>
            <a:pPr algn="ctr">
              <a:lnSpc>
                <a:spcPts val="3948"/>
              </a:lnSpc>
            </a:pPr>
            <a:r>
              <a:rPr lang="en-US" b="true" sz="3174">
                <a:solidFill>
                  <a:srgbClr val="5170FF"/>
                </a:solidFill>
                <a:latin typeface="Red Hat Display Bold"/>
                <a:ea typeface="Red Hat Display Bold"/>
                <a:cs typeface="Red Hat Display Bold"/>
                <a:sym typeface="Red Hat Display Bold"/>
              </a:rPr>
              <a:t>DESIGN AND IMPLEMENTATION OF A MOBILE APP FOR COLLECTION OF</a:t>
            </a:r>
          </a:p>
          <a:p>
            <a:pPr algn="ctr">
              <a:lnSpc>
                <a:spcPts val="4570"/>
              </a:lnSpc>
            </a:pPr>
            <a:r>
              <a:rPr lang="en-US" b="true" sz="3674">
                <a:solidFill>
                  <a:srgbClr val="5170FF"/>
                </a:solidFill>
                <a:latin typeface="Red Hat Display Bold"/>
                <a:ea typeface="Red Hat Display Bold"/>
                <a:cs typeface="Red Hat Display Bold"/>
                <a:sym typeface="Red Hat Display Bold"/>
              </a:rPr>
              <a:t>USER EXPERIENCAE DATA FROM MOBILE NETWORK SUBSCRIBERS</a:t>
            </a:r>
          </a:p>
          <a:p>
            <a:pPr algn="ctr">
              <a:lnSpc>
                <a:spcPts val="4570"/>
              </a:lnSpc>
            </a:pPr>
          </a:p>
        </p:txBody>
      </p:sp>
      <p:sp>
        <p:nvSpPr>
          <p:cNvPr name="TextBox 9" id="9"/>
          <p:cNvSpPr txBox="true"/>
          <p:nvPr/>
        </p:nvSpPr>
        <p:spPr>
          <a:xfrm rot="0">
            <a:off x="0" y="5625757"/>
            <a:ext cx="9143189" cy="948660"/>
          </a:xfrm>
          <a:prstGeom prst="rect">
            <a:avLst/>
          </a:prstGeom>
        </p:spPr>
        <p:txBody>
          <a:bodyPr anchor="t" rtlCol="false" tIns="0" lIns="0" bIns="0" rIns="0">
            <a:spAutoFit/>
          </a:bodyPr>
          <a:lstStyle/>
          <a:p>
            <a:pPr algn="ctr">
              <a:lnSpc>
                <a:spcPts val="3886"/>
              </a:lnSpc>
            </a:pPr>
            <a:r>
              <a:rPr lang="en-US" b="true" sz="2776">
                <a:solidFill>
                  <a:srgbClr val="5B7ABE"/>
                </a:solidFill>
                <a:latin typeface="Red Hat Display Bold"/>
                <a:ea typeface="Red Hat Display Bold"/>
                <a:cs typeface="Red Hat Display Bold"/>
                <a:sym typeface="Red Hat Display Bold"/>
              </a:rPr>
              <a:t>CEF440</a:t>
            </a:r>
            <a:r>
              <a:rPr lang="en-US" b="true" sz="2776">
                <a:solidFill>
                  <a:srgbClr val="5B7ABE"/>
                </a:solidFill>
                <a:latin typeface="Red Hat Display Bold"/>
                <a:ea typeface="Red Hat Display Bold"/>
                <a:cs typeface="Red Hat Display Bold"/>
                <a:sym typeface="Red Hat Display Bold"/>
              </a:rPr>
              <a:t> – Internet &amp; Mobile Programming | Dr. Valery Nkemeni | Group 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3989576" y="2324075"/>
            <a:ext cx="10308849" cy="704122"/>
          </a:xfrm>
          <a:prstGeom prst="rect">
            <a:avLst/>
          </a:prstGeom>
        </p:spPr>
        <p:txBody>
          <a:bodyPr anchor="t" rtlCol="false" tIns="0" lIns="0" bIns="0" rIns="0">
            <a:spAutoFit/>
          </a:bodyPr>
          <a:lstStyle/>
          <a:p>
            <a:pPr algn="ctr">
              <a:lnSpc>
                <a:spcPts val="5225"/>
              </a:lnSpc>
            </a:pPr>
            <a:r>
              <a:rPr lang="en-US" b="true" sz="3732">
                <a:solidFill>
                  <a:srgbClr val="2D2261"/>
                </a:solidFill>
                <a:latin typeface="Red Hat Display Bold"/>
                <a:ea typeface="Red Hat Display Bold"/>
                <a:cs typeface="Red Hat Display Bold"/>
                <a:sym typeface="Red Hat Display Bold"/>
              </a:rPr>
              <a:t>From R</a:t>
            </a:r>
            <a:r>
              <a:rPr lang="en-US" b="true" sz="3732">
                <a:solidFill>
                  <a:srgbClr val="2D2261"/>
                </a:solidFill>
                <a:latin typeface="Red Hat Display Bold"/>
                <a:ea typeface="Red Hat Display Bold"/>
                <a:cs typeface="Red Hat Display Bold"/>
                <a:sym typeface="Red Hat Display Bold"/>
              </a:rPr>
              <a:t>aw Voices to Clear Requirements</a:t>
            </a:r>
          </a:p>
          <a:p>
            <a:pPr algn="ctr">
              <a:lnSpc>
                <a:spcPts val="105"/>
              </a:lnSpc>
            </a:pPr>
          </a:p>
        </p:txBody>
      </p:sp>
      <p:sp>
        <p:nvSpPr>
          <p:cNvPr name="TextBox 3" id="3"/>
          <p:cNvSpPr txBox="true"/>
          <p:nvPr/>
        </p:nvSpPr>
        <p:spPr>
          <a:xfrm rot="0">
            <a:off x="2281895" y="4067577"/>
            <a:ext cx="3173706" cy="8153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Structured Evaluation</a:t>
            </a:r>
          </a:p>
        </p:txBody>
      </p:sp>
      <p:sp>
        <p:nvSpPr>
          <p:cNvPr name="Freeform 4" id="4"/>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4797618" y="1606038"/>
            <a:ext cx="8994142" cy="33020"/>
          </a:xfrm>
          <a:prstGeom prst="rect">
            <a:avLst/>
          </a:prstGeom>
        </p:spPr>
        <p:txBody>
          <a:bodyPr anchor="t" rtlCol="false" tIns="0" lIns="0" bIns="0" rIns="0">
            <a:spAutoFit/>
          </a:bodyPr>
          <a:lstStyle/>
          <a:p>
            <a:pPr algn="ctr" marL="0" indent="0" lvl="0">
              <a:lnSpc>
                <a:spcPts val="105"/>
              </a:lnSpc>
              <a:spcBef>
                <a:spcPct val="0"/>
              </a:spcBef>
            </a:pPr>
            <a:r>
              <a:rPr lang="en-US" b="true" sz="100" strike="noStrike" u="none">
                <a:solidFill>
                  <a:srgbClr val="2D2261"/>
                </a:solidFill>
                <a:latin typeface="Red Hat Display Bold"/>
                <a:ea typeface="Red Hat Display Bold"/>
                <a:cs typeface="Red Hat Display Bold"/>
                <a:sym typeface="Red Hat Display Bold"/>
              </a:rPr>
              <a:t>From Raw Voices to Clear Requirements</a:t>
            </a:r>
          </a:p>
          <a:p>
            <a:pPr algn="ctr" marL="0" indent="0" lvl="0">
              <a:lnSpc>
                <a:spcPts val="105"/>
              </a:lnSpc>
              <a:spcBef>
                <a:spcPct val="0"/>
              </a:spcBef>
            </a:pPr>
          </a:p>
        </p:txBody>
      </p:sp>
      <p:sp>
        <p:nvSpPr>
          <p:cNvPr name="TextBox 9" id="9"/>
          <p:cNvSpPr txBox="true"/>
          <p:nvPr/>
        </p:nvSpPr>
        <p:spPr>
          <a:xfrm rot="0">
            <a:off x="4797618" y="1278154"/>
            <a:ext cx="8994142" cy="598619"/>
          </a:xfrm>
          <a:prstGeom prst="rect">
            <a:avLst/>
          </a:prstGeom>
        </p:spPr>
        <p:txBody>
          <a:bodyPr anchor="t" rtlCol="false" tIns="0" lIns="0" bIns="0" rIns="0">
            <a:spAutoFit/>
          </a:bodyPr>
          <a:lstStyle/>
          <a:p>
            <a:pPr algn="ctr">
              <a:lnSpc>
                <a:spcPts val="4805"/>
              </a:lnSpc>
            </a:pPr>
            <a:r>
              <a:rPr lang="en-US" b="true" sz="3432">
                <a:solidFill>
                  <a:srgbClr val="2D2261"/>
                </a:solidFill>
                <a:latin typeface="Red Hat Display Bold"/>
                <a:ea typeface="Red Hat Display Bold"/>
                <a:cs typeface="Red Hat Display Bold"/>
                <a:sym typeface="Red Hat Display Bold"/>
              </a:rPr>
              <a:t>INTRODUCTION</a:t>
            </a:r>
          </a:p>
        </p:txBody>
      </p:sp>
      <p:sp>
        <p:nvSpPr>
          <p:cNvPr name="TextBox 10" id="10"/>
          <p:cNvSpPr txBox="true"/>
          <p:nvPr/>
        </p:nvSpPr>
        <p:spPr>
          <a:xfrm rot="0">
            <a:off x="1731253" y="3885447"/>
            <a:ext cx="16006105" cy="3235495"/>
          </a:xfrm>
          <a:prstGeom prst="rect">
            <a:avLst/>
          </a:prstGeom>
        </p:spPr>
        <p:txBody>
          <a:bodyPr anchor="t" rtlCol="false" tIns="0" lIns="0" bIns="0" rIns="0">
            <a:spAutoFit/>
          </a:bodyPr>
          <a:lstStyle/>
          <a:p>
            <a:pPr algn="just">
              <a:lnSpc>
                <a:spcPts val="4181"/>
              </a:lnSpc>
            </a:pPr>
            <a:r>
              <a:rPr lang="en-US" sz="2986">
                <a:solidFill>
                  <a:srgbClr val="2D2261"/>
                </a:solidFill>
                <a:latin typeface="Red Hat Display"/>
                <a:ea typeface="Red Hat Display"/>
                <a:cs typeface="Red Hat Display"/>
                <a:sym typeface="Red Hat Display"/>
              </a:rPr>
              <a:t>Requirements were gathered through surveys involving </a:t>
            </a:r>
            <a:r>
              <a:rPr lang="en-US" sz="2986" b="true">
                <a:solidFill>
                  <a:srgbClr val="2D2261"/>
                </a:solidFill>
                <a:latin typeface="Red Hat Display Bold"/>
                <a:ea typeface="Red Hat Display Bold"/>
                <a:cs typeface="Red Hat Display Bold"/>
                <a:sym typeface="Red Hat Display Bold"/>
              </a:rPr>
              <a:t>133 respondents</a:t>
            </a:r>
            <a:r>
              <a:rPr lang="en-US" sz="2986">
                <a:solidFill>
                  <a:srgbClr val="2D2261"/>
                </a:solidFill>
                <a:latin typeface="Red Hat Display"/>
                <a:ea typeface="Red Hat Display"/>
                <a:cs typeface="Red Hat Display"/>
                <a:sym typeface="Red Hat Display"/>
              </a:rPr>
              <a:t>, interviews, brainstorming sessions, and reverse engineering of existing applications such as </a:t>
            </a:r>
            <a:r>
              <a:rPr lang="en-US" sz="2986" b="true">
                <a:solidFill>
                  <a:srgbClr val="2D2261"/>
                </a:solidFill>
                <a:latin typeface="Red Hat Display Bold"/>
                <a:ea typeface="Red Hat Display Bold"/>
                <a:cs typeface="Red Hat Display Bold"/>
                <a:sym typeface="Red Hat Display Bold"/>
              </a:rPr>
              <a:t>OpenSignal, Speedtest,</a:t>
            </a:r>
            <a:r>
              <a:rPr lang="en-US" sz="2986">
                <a:solidFill>
                  <a:srgbClr val="2D2261"/>
                </a:solidFill>
                <a:latin typeface="Red Hat Display"/>
                <a:ea typeface="Red Hat Display"/>
                <a:cs typeface="Red Hat Display"/>
                <a:sym typeface="Red Hat Display"/>
              </a:rPr>
              <a:t> and </a:t>
            </a:r>
            <a:r>
              <a:rPr lang="en-US" sz="2986" b="true">
                <a:solidFill>
                  <a:srgbClr val="2D2261"/>
                </a:solidFill>
                <a:latin typeface="Red Hat Display Bold"/>
                <a:ea typeface="Red Hat Display Bold"/>
                <a:cs typeface="Red Hat Display Bold"/>
                <a:sym typeface="Red Hat Display Bold"/>
              </a:rPr>
              <a:t>nPerf.</a:t>
            </a:r>
          </a:p>
          <a:p>
            <a:pPr algn="just">
              <a:lnSpc>
                <a:spcPts val="4181"/>
              </a:lnSpc>
            </a:pPr>
            <a:r>
              <a:rPr lang="en-US" sz="2986">
                <a:solidFill>
                  <a:srgbClr val="2D2261"/>
                </a:solidFill>
                <a:latin typeface="Red Hat Display"/>
                <a:ea typeface="Red Hat Display"/>
                <a:cs typeface="Red Hat Display"/>
                <a:sym typeface="Red Hat Display"/>
              </a:rPr>
              <a:t>Since r</a:t>
            </a:r>
            <a:r>
              <a:rPr lang="en-US" sz="2986">
                <a:solidFill>
                  <a:srgbClr val="2D2261"/>
                </a:solidFill>
                <a:latin typeface="Red Hat Display"/>
                <a:ea typeface="Red Hat Display"/>
                <a:cs typeface="Red Hat Display"/>
                <a:sym typeface="Red Hat Display"/>
              </a:rPr>
              <a:t>aw data is often unstructured and contains opinions, inconsistencies, and unclear requests, the requirement analysis phase was necessary to transform the collected information into clear, validated, and implementable system specifications</a:t>
            </a:r>
          </a:p>
          <a:p>
            <a:pPr algn="just">
              <a:lnSpc>
                <a:spcPts val="524"/>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6425496" y="1624976"/>
            <a:ext cx="1381570" cy="1381570"/>
          </a:xfrm>
          <a:custGeom>
            <a:avLst/>
            <a:gdLst/>
            <a:ahLst/>
            <a:cxnLst/>
            <a:rect r="r" b="b" t="t" l="l"/>
            <a:pathLst>
              <a:path h="1381570" w="1381570">
                <a:moveTo>
                  <a:pt x="0" y="0"/>
                </a:moveTo>
                <a:lnTo>
                  <a:pt x="1381571" y="0"/>
                </a:lnTo>
                <a:lnTo>
                  <a:pt x="1381571"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21872" y="4574829"/>
            <a:ext cx="1381570" cy="1381570"/>
          </a:xfrm>
          <a:custGeom>
            <a:avLst/>
            <a:gdLst/>
            <a:ahLst/>
            <a:cxnLst/>
            <a:rect r="r" b="b" t="t" l="l"/>
            <a:pathLst>
              <a:path h="1381570" w="1381570">
                <a:moveTo>
                  <a:pt x="0" y="0"/>
                </a:moveTo>
                <a:lnTo>
                  <a:pt x="1381570" y="0"/>
                </a:lnTo>
                <a:lnTo>
                  <a:pt x="1381570" y="1381571"/>
                </a:lnTo>
                <a:lnTo>
                  <a:pt x="0" y="1381571"/>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425496" y="7239923"/>
            <a:ext cx="1381570" cy="1381570"/>
          </a:xfrm>
          <a:custGeom>
            <a:avLst/>
            <a:gdLst/>
            <a:ahLst/>
            <a:cxnLst/>
            <a:rect r="r" b="b" t="t" l="l"/>
            <a:pathLst>
              <a:path h="1381570" w="1381570">
                <a:moveTo>
                  <a:pt x="0" y="0"/>
                </a:moveTo>
                <a:lnTo>
                  <a:pt x="1381571" y="0"/>
                </a:lnTo>
                <a:lnTo>
                  <a:pt x="1381571"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601135" y="1801011"/>
            <a:ext cx="1029499" cy="102949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8" id="8"/>
          <p:cNvGrpSpPr/>
          <p:nvPr/>
        </p:nvGrpSpPr>
        <p:grpSpPr>
          <a:xfrm rot="0">
            <a:off x="6670809" y="4663030"/>
            <a:ext cx="1029499" cy="102949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11" id="11"/>
          <p:cNvGrpSpPr/>
          <p:nvPr/>
        </p:nvGrpSpPr>
        <p:grpSpPr>
          <a:xfrm rot="0">
            <a:off x="6601135" y="7242275"/>
            <a:ext cx="1029499" cy="10294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14" id="14"/>
          <p:cNvSpPr/>
          <p:nvPr/>
        </p:nvSpPr>
        <p:spPr>
          <a:xfrm flipH="false" flipV="false" rot="0">
            <a:off x="1028700" y="3366111"/>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7449365" y="2710152"/>
            <a:ext cx="8550532" cy="2073275"/>
          </a:xfrm>
          <a:prstGeom prst="rect">
            <a:avLst/>
          </a:prstGeom>
        </p:spPr>
        <p:txBody>
          <a:bodyPr anchor="t" rtlCol="false" tIns="0" lIns="0" bIns="0" rIns="0">
            <a:spAutoFit/>
          </a:bodyPr>
          <a:lstStyle/>
          <a:p>
            <a:pPr algn="l" marL="431799" indent="-215899" lvl="1">
              <a:lnSpc>
                <a:spcPts val="2799"/>
              </a:lnSpc>
              <a:buFont typeface="Arial"/>
              <a:buChar char="•"/>
            </a:pPr>
            <a:r>
              <a:rPr lang="en-US" sz="1999">
                <a:solidFill>
                  <a:srgbClr val="5B7ABE"/>
                </a:solidFill>
                <a:latin typeface="Red Hat Display"/>
                <a:ea typeface="Red Hat Display"/>
                <a:cs typeface="Red Hat Display"/>
                <a:sym typeface="Red Hat Display"/>
              </a:rPr>
              <a:t>Collect user feedback on network performance</a:t>
            </a:r>
          </a:p>
          <a:p>
            <a:pPr algn="l" marL="431799" indent="-215899" lvl="1">
              <a:lnSpc>
                <a:spcPts val="2799"/>
              </a:lnSpc>
              <a:buFont typeface="Arial"/>
              <a:buChar char="•"/>
            </a:pPr>
            <a:r>
              <a:rPr lang="en-US" sz="1999">
                <a:solidFill>
                  <a:srgbClr val="5B7ABE"/>
                </a:solidFill>
                <a:latin typeface="Red Hat Display"/>
                <a:ea typeface="Red Hat Display"/>
                <a:cs typeface="Red Hat Display"/>
                <a:sym typeface="Red Hat Display"/>
              </a:rPr>
              <a:t>Monitor signal strength and internet quality</a:t>
            </a:r>
          </a:p>
          <a:p>
            <a:pPr algn="l" marL="431799" indent="-215899" lvl="1">
              <a:lnSpc>
                <a:spcPts val="2799"/>
              </a:lnSpc>
              <a:buFont typeface="Arial"/>
              <a:buChar char="•"/>
            </a:pPr>
            <a:r>
              <a:rPr lang="en-US" sz="1999">
                <a:solidFill>
                  <a:srgbClr val="5B7ABE"/>
                </a:solidFill>
                <a:latin typeface="Red Hat Display"/>
                <a:ea typeface="Red Hat Display"/>
                <a:cs typeface="Red Hat Display"/>
                <a:sym typeface="Red Hat Display"/>
              </a:rPr>
              <a:t>Store and synchronize collected data</a:t>
            </a:r>
          </a:p>
          <a:p>
            <a:pPr algn="l" marL="410209" indent="-205105" lvl="1">
              <a:lnSpc>
                <a:spcPts val="2659"/>
              </a:lnSpc>
              <a:buFont typeface="Arial"/>
              <a:buChar char="•"/>
            </a:pPr>
            <a:r>
              <a:rPr lang="en-US" sz="1899">
                <a:solidFill>
                  <a:srgbClr val="5B7ABE"/>
                </a:solidFill>
                <a:latin typeface="Red Hat Display"/>
                <a:ea typeface="Red Hat Display"/>
                <a:cs typeface="Red Hat Display"/>
                <a:sym typeface="Red Hat Display"/>
              </a:rPr>
              <a:t>Generate reports and QoE analytics</a:t>
            </a:r>
          </a:p>
          <a:p>
            <a:pPr algn="l" marL="431799" indent="-215899" lvl="1">
              <a:lnSpc>
                <a:spcPts val="2799"/>
              </a:lnSpc>
              <a:buFont typeface="Arial"/>
              <a:buChar char="•"/>
            </a:pPr>
            <a:r>
              <a:rPr lang="en-US" sz="1999">
                <a:solidFill>
                  <a:srgbClr val="5B7ABE"/>
                </a:solidFill>
                <a:latin typeface="Red Hat Display"/>
                <a:ea typeface="Red Hat Display"/>
                <a:cs typeface="Red Hat Display"/>
                <a:sym typeface="Red Hat Display"/>
              </a:rPr>
              <a:t>Support continuous background monitoring</a:t>
            </a:r>
          </a:p>
          <a:p>
            <a:pPr algn="l">
              <a:lnSpc>
                <a:spcPts val="2799"/>
              </a:lnSpc>
            </a:pPr>
          </a:p>
        </p:txBody>
      </p:sp>
      <p:sp>
        <p:nvSpPr>
          <p:cNvPr name="TextBox 16" id="16"/>
          <p:cNvSpPr txBox="true"/>
          <p:nvPr/>
        </p:nvSpPr>
        <p:spPr>
          <a:xfrm rot="0">
            <a:off x="7630634" y="5232270"/>
            <a:ext cx="7516956" cy="1878330"/>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Android compatibility</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Internet &amp; GPS access</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Background service capability</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Android Telephony APIs</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Secure data transmission mechanisms </a:t>
            </a:r>
          </a:p>
          <a:p>
            <a:pPr algn="l">
              <a:lnSpc>
                <a:spcPts val="2520"/>
              </a:lnSpc>
            </a:pPr>
          </a:p>
        </p:txBody>
      </p:sp>
      <p:sp>
        <p:nvSpPr>
          <p:cNvPr name="TextBox 17" id="17"/>
          <p:cNvSpPr txBox="true"/>
          <p:nvPr/>
        </p:nvSpPr>
        <p:spPr>
          <a:xfrm rot="0">
            <a:off x="7560961" y="7786875"/>
            <a:ext cx="7516956" cy="2821305"/>
          </a:xfrm>
          <a:prstGeom prst="rect">
            <a:avLst/>
          </a:prstGeom>
        </p:spPr>
        <p:txBody>
          <a:bodyPr anchor="t" rtlCol="false" tIns="0" lIns="0" bIns="0" rIns="0">
            <a:spAutoFit/>
          </a:bodyPr>
          <a:lstStyle/>
          <a:p>
            <a:pPr algn="l">
              <a:lnSpc>
                <a:spcPts val="2520"/>
              </a:lnSpc>
            </a:pP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Simple and intuitive interface</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Minimal battery consumption</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Protection of personal information and privacy</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Smooth and non-intrusive user experience</a:t>
            </a:r>
          </a:p>
          <a:p>
            <a:pPr algn="l" marL="388620" indent="-194310" lvl="1">
              <a:lnSpc>
                <a:spcPts val="2520"/>
              </a:lnSpc>
              <a:buFont typeface="Arial"/>
              <a:buChar char="•"/>
            </a:pPr>
            <a:r>
              <a:rPr lang="en-US" sz="1800">
                <a:solidFill>
                  <a:srgbClr val="5B7ABE"/>
                </a:solidFill>
                <a:latin typeface="Red Hat Display"/>
                <a:ea typeface="Red Hat Display"/>
                <a:cs typeface="Red Hat Display"/>
                <a:sym typeface="Red Hat Display"/>
              </a:rPr>
              <a:t>Easy-to-understand feedback prompts</a:t>
            </a:r>
          </a:p>
          <a:p>
            <a:pPr algn="l">
              <a:lnSpc>
                <a:spcPts val="2520"/>
              </a:lnSpc>
            </a:pPr>
          </a:p>
          <a:p>
            <a:pPr algn="l">
              <a:lnSpc>
                <a:spcPts val="2520"/>
              </a:lnSpc>
            </a:pPr>
          </a:p>
          <a:p>
            <a:pPr algn="l">
              <a:lnSpc>
                <a:spcPts val="2520"/>
              </a:lnSpc>
            </a:pPr>
          </a:p>
        </p:txBody>
      </p:sp>
      <p:sp>
        <p:nvSpPr>
          <p:cNvPr name="TextBox 18" id="18"/>
          <p:cNvSpPr txBox="true"/>
          <p:nvPr/>
        </p:nvSpPr>
        <p:spPr>
          <a:xfrm rot="0">
            <a:off x="7630634" y="1695600"/>
            <a:ext cx="5936813" cy="1176655"/>
          </a:xfrm>
          <a:prstGeom prst="rect">
            <a:avLst/>
          </a:prstGeom>
        </p:spPr>
        <p:txBody>
          <a:bodyPr anchor="t" rtlCol="false" tIns="0" lIns="0" bIns="0" rIns="0">
            <a:spAutoFit/>
          </a:bodyPr>
          <a:lstStyle/>
          <a:p>
            <a:pPr algn="l">
              <a:lnSpc>
                <a:spcPts val="3110"/>
              </a:lnSpc>
            </a:pPr>
            <a:r>
              <a:rPr lang="en-US" sz="2500" b="true">
                <a:solidFill>
                  <a:srgbClr val="2D2261"/>
                </a:solidFill>
                <a:latin typeface="Red Hat Display Bold"/>
                <a:ea typeface="Red Hat Display Bold"/>
                <a:cs typeface="Red Hat Display Bold"/>
                <a:sym typeface="Red Hat Display Bold"/>
              </a:rPr>
              <a:t>Functional Requirements (What the app does)</a:t>
            </a:r>
          </a:p>
          <a:p>
            <a:pPr algn="l">
              <a:lnSpc>
                <a:spcPts val="3110"/>
              </a:lnSpc>
            </a:pPr>
          </a:p>
        </p:txBody>
      </p:sp>
      <p:sp>
        <p:nvSpPr>
          <p:cNvPr name="TextBox 19" id="19"/>
          <p:cNvSpPr txBox="true"/>
          <p:nvPr/>
        </p:nvSpPr>
        <p:spPr>
          <a:xfrm rot="0">
            <a:off x="7630634" y="4764377"/>
            <a:ext cx="7748151" cy="1189533"/>
          </a:xfrm>
          <a:prstGeom prst="rect">
            <a:avLst/>
          </a:prstGeom>
        </p:spPr>
        <p:txBody>
          <a:bodyPr anchor="t" rtlCol="false" tIns="0" lIns="0" bIns="0" rIns="0">
            <a:spAutoFit/>
          </a:bodyPr>
          <a:lstStyle/>
          <a:p>
            <a:pPr algn="l">
              <a:lnSpc>
                <a:spcPts val="3110"/>
              </a:lnSpc>
            </a:pPr>
            <a:r>
              <a:rPr lang="en-US" sz="2500" b="true">
                <a:solidFill>
                  <a:srgbClr val="2D2261"/>
                </a:solidFill>
                <a:latin typeface="Red Hat Display Bold"/>
                <a:ea typeface="Red Hat Display Bold"/>
                <a:cs typeface="Red Hat Display Bold"/>
                <a:sym typeface="Red Hat Display Bold"/>
              </a:rPr>
              <a:t>Technical Requirements (What makes it work)</a:t>
            </a:r>
          </a:p>
          <a:p>
            <a:pPr algn="l">
              <a:lnSpc>
                <a:spcPts val="3110"/>
              </a:lnSpc>
            </a:pPr>
          </a:p>
          <a:p>
            <a:pPr algn="l">
              <a:lnSpc>
                <a:spcPts val="1617"/>
              </a:lnSpc>
            </a:pPr>
          </a:p>
          <a:p>
            <a:pPr algn="l">
              <a:lnSpc>
                <a:spcPts val="1617"/>
              </a:lnSpc>
            </a:pPr>
          </a:p>
        </p:txBody>
      </p:sp>
      <p:sp>
        <p:nvSpPr>
          <p:cNvPr name="TextBox 20" id="20"/>
          <p:cNvSpPr txBox="true"/>
          <p:nvPr/>
        </p:nvSpPr>
        <p:spPr>
          <a:xfrm rot="0">
            <a:off x="7789157" y="7424714"/>
            <a:ext cx="5936813" cy="836828"/>
          </a:xfrm>
          <a:prstGeom prst="rect">
            <a:avLst/>
          </a:prstGeom>
        </p:spPr>
        <p:txBody>
          <a:bodyPr anchor="t" rtlCol="false" tIns="0" lIns="0" bIns="0" rIns="0">
            <a:spAutoFit/>
          </a:bodyPr>
          <a:lstStyle/>
          <a:p>
            <a:pPr algn="l">
              <a:lnSpc>
                <a:spcPts val="3110"/>
              </a:lnSpc>
            </a:pPr>
            <a:r>
              <a:rPr lang="en-US" sz="2500" b="true">
                <a:solidFill>
                  <a:srgbClr val="2D2261"/>
                </a:solidFill>
                <a:latin typeface="Red Hat Display Bold"/>
                <a:ea typeface="Red Hat Display Bold"/>
                <a:cs typeface="Red Hat Display Bold"/>
                <a:sym typeface="Red Hat Display Bold"/>
              </a:rPr>
              <a:t>User Expectations (What people want)</a:t>
            </a:r>
          </a:p>
          <a:p>
            <a:pPr algn="l">
              <a:lnSpc>
                <a:spcPts val="1741"/>
              </a:lnSpc>
            </a:pPr>
          </a:p>
          <a:p>
            <a:pPr algn="l">
              <a:lnSpc>
                <a:spcPts val="1741"/>
              </a:lnSpc>
            </a:pPr>
          </a:p>
        </p:txBody>
      </p:sp>
      <p:sp>
        <p:nvSpPr>
          <p:cNvPr name="TextBox 21" id="21"/>
          <p:cNvSpPr txBox="true"/>
          <p:nvPr/>
        </p:nvSpPr>
        <p:spPr>
          <a:xfrm rot="0">
            <a:off x="6601135" y="2013760"/>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01</a:t>
            </a:r>
          </a:p>
        </p:txBody>
      </p:sp>
      <p:sp>
        <p:nvSpPr>
          <p:cNvPr name="TextBox 22" id="22"/>
          <p:cNvSpPr txBox="true"/>
          <p:nvPr/>
        </p:nvSpPr>
        <p:spPr>
          <a:xfrm rot="0">
            <a:off x="6670809" y="4773902"/>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02</a:t>
            </a:r>
          </a:p>
        </p:txBody>
      </p:sp>
      <p:sp>
        <p:nvSpPr>
          <p:cNvPr name="TextBox 23" id="23"/>
          <p:cNvSpPr txBox="true"/>
          <p:nvPr/>
        </p:nvSpPr>
        <p:spPr>
          <a:xfrm rot="0">
            <a:off x="6532745" y="7434239"/>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03</a:t>
            </a:r>
          </a:p>
        </p:txBody>
      </p:sp>
      <p:sp>
        <p:nvSpPr>
          <p:cNvPr name="TextBox 24" id="24"/>
          <p:cNvSpPr txBox="true"/>
          <p:nvPr/>
        </p:nvSpPr>
        <p:spPr>
          <a:xfrm rot="0">
            <a:off x="5627626" y="825641"/>
            <a:ext cx="10918083" cy="1197643"/>
          </a:xfrm>
          <a:prstGeom prst="rect">
            <a:avLst/>
          </a:prstGeom>
        </p:spPr>
        <p:txBody>
          <a:bodyPr anchor="t" rtlCol="false" tIns="0" lIns="0" bIns="0" rIns="0">
            <a:spAutoFit/>
          </a:bodyPr>
          <a:lstStyle/>
          <a:p>
            <a:pPr algn="l">
              <a:lnSpc>
                <a:spcPts val="4863"/>
              </a:lnSpc>
            </a:pPr>
            <a:r>
              <a:rPr lang="en-US" sz="3473">
                <a:solidFill>
                  <a:srgbClr val="5B7ABE"/>
                </a:solidFill>
                <a:latin typeface="Red Hat Display"/>
                <a:ea typeface="Red Hat Display"/>
                <a:cs typeface="Red Hat Display"/>
                <a:sym typeface="Red Hat Display"/>
              </a:rPr>
              <a:t>Reviewing What We Gathered</a:t>
            </a:r>
          </a:p>
          <a:p>
            <a:pPr algn="l">
              <a:lnSpc>
                <a:spcPts val="4863"/>
              </a:lnSpc>
            </a:pPr>
          </a:p>
        </p:txBody>
      </p:sp>
      <p:sp>
        <p:nvSpPr>
          <p:cNvPr name="TextBox 25" id="25"/>
          <p:cNvSpPr txBox="true"/>
          <p:nvPr/>
        </p:nvSpPr>
        <p:spPr>
          <a:xfrm rot="0">
            <a:off x="6425496" y="326164"/>
            <a:ext cx="6559765" cy="1122780"/>
          </a:xfrm>
          <a:prstGeom prst="rect">
            <a:avLst/>
          </a:prstGeom>
        </p:spPr>
        <p:txBody>
          <a:bodyPr anchor="t" rtlCol="false" tIns="0" lIns="0" bIns="0" rIns="0">
            <a:spAutoFit/>
          </a:bodyPr>
          <a:lstStyle/>
          <a:p>
            <a:pPr algn="l">
              <a:lnSpc>
                <a:spcPts val="5869"/>
              </a:lnSpc>
            </a:pPr>
            <a:r>
              <a:rPr lang="en-US" sz="4718" b="true">
                <a:solidFill>
                  <a:srgbClr val="2D2261"/>
                </a:solidFill>
                <a:latin typeface="Red Hat Display Bold"/>
                <a:ea typeface="Red Hat Display Bold"/>
                <a:cs typeface="Red Hat Display Bold"/>
                <a:sym typeface="Red Hat Display Bold"/>
              </a:rPr>
              <a:t>Completeness </a:t>
            </a:r>
          </a:p>
          <a:p>
            <a:pPr algn="l">
              <a:lnSpc>
                <a:spcPts val="3133"/>
              </a:lnSpc>
            </a:pPr>
          </a:p>
        </p:txBody>
      </p:sp>
      <p:sp>
        <p:nvSpPr>
          <p:cNvPr name="Freeform 26" id="26"/>
          <p:cNvSpPr/>
          <p:nvPr/>
        </p:nvSpPr>
        <p:spPr>
          <a:xfrm flipH="false" flipV="false" rot="0">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Freeform 28" id="28"/>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715000" y="201911"/>
            <a:ext cx="9759051" cy="2171513"/>
          </a:xfrm>
          <a:prstGeom prst="rect">
            <a:avLst/>
          </a:prstGeom>
        </p:spPr>
        <p:txBody>
          <a:bodyPr anchor="t" rtlCol="false" tIns="0" lIns="0" bIns="0" rIns="0">
            <a:spAutoFit/>
          </a:bodyPr>
          <a:lstStyle/>
          <a:p>
            <a:pPr algn="ctr">
              <a:lnSpc>
                <a:spcPts val="5785"/>
              </a:lnSpc>
            </a:pPr>
            <a:r>
              <a:rPr lang="en-US" sz="4132" b="true">
                <a:solidFill>
                  <a:srgbClr val="2D2261"/>
                </a:solidFill>
                <a:latin typeface="Red Hat Display Bold"/>
                <a:ea typeface="Red Hat Display Bold"/>
                <a:cs typeface="Red Hat Display Bold"/>
                <a:sym typeface="Red Hat Display Bold"/>
              </a:rPr>
              <a:t>Clarity</a:t>
            </a:r>
          </a:p>
          <a:p>
            <a:pPr algn="ctr">
              <a:lnSpc>
                <a:spcPts val="5785"/>
              </a:lnSpc>
            </a:pPr>
            <a:r>
              <a:rPr lang="en-US" sz="4132" b="true">
                <a:solidFill>
                  <a:srgbClr val="2D2261"/>
                </a:solidFill>
                <a:latin typeface="Red Hat Display Bold"/>
                <a:ea typeface="Red Hat Display Bold"/>
                <a:cs typeface="Red Hat Display Bold"/>
                <a:sym typeface="Red Hat Display Bold"/>
              </a:rPr>
              <a:t>"Monitor the Network" Isn't Enough</a:t>
            </a:r>
          </a:p>
          <a:p>
            <a:pPr algn="ctr">
              <a:lnSpc>
                <a:spcPts val="5785"/>
              </a:lnSpc>
            </a:pPr>
          </a:p>
        </p:txBody>
      </p:sp>
      <p:grpSp>
        <p:nvGrpSpPr>
          <p:cNvPr name="Group 3" id="3"/>
          <p:cNvGrpSpPr/>
          <p:nvPr/>
        </p:nvGrpSpPr>
        <p:grpSpPr>
          <a:xfrm rot="0">
            <a:off x="1215763" y="4133568"/>
            <a:ext cx="6728004" cy="3697518"/>
            <a:chOff x="0" y="0"/>
            <a:chExt cx="1771985" cy="973832"/>
          </a:xfrm>
        </p:grpSpPr>
        <p:sp>
          <p:nvSpPr>
            <p:cNvPr name="Freeform 4" id="4"/>
            <p:cNvSpPr/>
            <p:nvPr/>
          </p:nvSpPr>
          <p:spPr>
            <a:xfrm flipH="false" flipV="false" rot="0">
              <a:off x="0" y="0"/>
              <a:ext cx="1771985" cy="973832"/>
            </a:xfrm>
            <a:custGeom>
              <a:avLst/>
              <a:gdLst/>
              <a:ahLst/>
              <a:cxnLst/>
              <a:rect r="r" b="b" t="t" l="l"/>
              <a:pathLst>
                <a:path h="973832" w="1771985">
                  <a:moveTo>
                    <a:pt x="34521" y="0"/>
                  </a:moveTo>
                  <a:lnTo>
                    <a:pt x="1737464" y="0"/>
                  </a:lnTo>
                  <a:cubicBezTo>
                    <a:pt x="1746619" y="0"/>
                    <a:pt x="1755400" y="3637"/>
                    <a:pt x="1761874" y="10111"/>
                  </a:cubicBezTo>
                  <a:cubicBezTo>
                    <a:pt x="1768348" y="16585"/>
                    <a:pt x="1771985" y="25365"/>
                    <a:pt x="1771985" y="34521"/>
                  </a:cubicBezTo>
                  <a:lnTo>
                    <a:pt x="1771985" y="939311"/>
                  </a:lnTo>
                  <a:cubicBezTo>
                    <a:pt x="1771985" y="948466"/>
                    <a:pt x="1768348" y="957247"/>
                    <a:pt x="1761874" y="963721"/>
                  </a:cubicBezTo>
                  <a:cubicBezTo>
                    <a:pt x="1755400" y="970195"/>
                    <a:pt x="1746619" y="973832"/>
                    <a:pt x="1737464" y="973832"/>
                  </a:cubicBezTo>
                  <a:lnTo>
                    <a:pt x="34521" y="973832"/>
                  </a:lnTo>
                  <a:cubicBezTo>
                    <a:pt x="25365" y="973832"/>
                    <a:pt x="16585" y="970195"/>
                    <a:pt x="10111" y="963721"/>
                  </a:cubicBezTo>
                  <a:cubicBezTo>
                    <a:pt x="3637" y="957247"/>
                    <a:pt x="0" y="948466"/>
                    <a:pt x="0" y="939311"/>
                  </a:cubicBezTo>
                  <a:lnTo>
                    <a:pt x="0" y="34521"/>
                  </a:lnTo>
                  <a:cubicBezTo>
                    <a:pt x="0" y="25365"/>
                    <a:pt x="3637" y="16585"/>
                    <a:pt x="10111" y="10111"/>
                  </a:cubicBezTo>
                  <a:cubicBezTo>
                    <a:pt x="16585" y="3637"/>
                    <a:pt x="25365" y="0"/>
                    <a:pt x="34521" y="0"/>
                  </a:cubicBezTo>
                  <a:close/>
                </a:path>
              </a:pathLst>
            </a:custGeom>
            <a:solidFill>
              <a:srgbClr val="ECE1D7"/>
            </a:solidFill>
          </p:spPr>
        </p:sp>
        <p:sp>
          <p:nvSpPr>
            <p:cNvPr name="TextBox 5" id="5"/>
            <p:cNvSpPr txBox="true"/>
            <p:nvPr/>
          </p:nvSpPr>
          <p:spPr>
            <a:xfrm>
              <a:off x="0" y="-47625"/>
              <a:ext cx="1771985" cy="1021457"/>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1215763" y="2663050"/>
            <a:ext cx="6728004" cy="1866815"/>
            <a:chOff x="0" y="0"/>
            <a:chExt cx="1771985" cy="491672"/>
          </a:xfrm>
        </p:grpSpPr>
        <p:sp>
          <p:nvSpPr>
            <p:cNvPr name="Freeform 7" id="7"/>
            <p:cNvSpPr/>
            <p:nvPr/>
          </p:nvSpPr>
          <p:spPr>
            <a:xfrm flipH="false" flipV="false" rot="0">
              <a:off x="0" y="0"/>
              <a:ext cx="1771985" cy="491672"/>
            </a:xfrm>
            <a:custGeom>
              <a:avLst/>
              <a:gdLst/>
              <a:ahLst/>
              <a:cxnLst/>
              <a:rect r="r" b="b" t="t" l="l"/>
              <a:pathLst>
                <a:path h="491672" w="1771985">
                  <a:moveTo>
                    <a:pt x="34521" y="0"/>
                  </a:moveTo>
                  <a:lnTo>
                    <a:pt x="1737464" y="0"/>
                  </a:lnTo>
                  <a:cubicBezTo>
                    <a:pt x="1746619" y="0"/>
                    <a:pt x="1755400" y="3637"/>
                    <a:pt x="1761874" y="10111"/>
                  </a:cubicBezTo>
                  <a:cubicBezTo>
                    <a:pt x="1768348" y="16585"/>
                    <a:pt x="1771985" y="25365"/>
                    <a:pt x="1771985" y="34521"/>
                  </a:cubicBezTo>
                  <a:lnTo>
                    <a:pt x="1771985" y="457151"/>
                  </a:lnTo>
                  <a:cubicBezTo>
                    <a:pt x="1771985" y="466306"/>
                    <a:pt x="1768348" y="475087"/>
                    <a:pt x="1761874" y="481561"/>
                  </a:cubicBezTo>
                  <a:cubicBezTo>
                    <a:pt x="1755400" y="488035"/>
                    <a:pt x="1746619" y="491672"/>
                    <a:pt x="1737464" y="491672"/>
                  </a:cubicBezTo>
                  <a:lnTo>
                    <a:pt x="34521" y="491672"/>
                  </a:lnTo>
                  <a:cubicBezTo>
                    <a:pt x="25365" y="491672"/>
                    <a:pt x="16585" y="488035"/>
                    <a:pt x="10111" y="481561"/>
                  </a:cubicBezTo>
                  <a:cubicBezTo>
                    <a:pt x="3637" y="475087"/>
                    <a:pt x="0" y="466306"/>
                    <a:pt x="0" y="457151"/>
                  </a:cubicBezTo>
                  <a:lnTo>
                    <a:pt x="0" y="34521"/>
                  </a:lnTo>
                  <a:cubicBezTo>
                    <a:pt x="0" y="25365"/>
                    <a:pt x="3637" y="16585"/>
                    <a:pt x="10111" y="10111"/>
                  </a:cubicBezTo>
                  <a:cubicBezTo>
                    <a:pt x="16585" y="3637"/>
                    <a:pt x="25365" y="0"/>
                    <a:pt x="34521" y="0"/>
                  </a:cubicBezTo>
                  <a:close/>
                </a:path>
              </a:pathLst>
            </a:custGeom>
            <a:solidFill>
              <a:srgbClr val="5B7ABE"/>
            </a:solidFill>
          </p:spPr>
        </p:sp>
        <p:sp>
          <p:nvSpPr>
            <p:cNvPr name="TextBox 8" id="8"/>
            <p:cNvSpPr txBox="true"/>
            <p:nvPr/>
          </p:nvSpPr>
          <p:spPr>
            <a:xfrm>
              <a:off x="0" y="-47625"/>
              <a:ext cx="1771985" cy="539297"/>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2805014" y="3120787"/>
            <a:ext cx="3295139" cy="765225"/>
          </a:xfrm>
          <a:prstGeom prst="rect">
            <a:avLst/>
          </a:prstGeom>
        </p:spPr>
        <p:txBody>
          <a:bodyPr anchor="t" rtlCol="false" tIns="0" lIns="0" bIns="0" rIns="0">
            <a:spAutoFit/>
          </a:bodyPr>
          <a:lstStyle/>
          <a:p>
            <a:pPr algn="ctr">
              <a:lnSpc>
                <a:spcPts val="3102"/>
              </a:lnSpc>
            </a:pPr>
            <a:r>
              <a:rPr lang="en-US" sz="2215" b="true">
                <a:solidFill>
                  <a:srgbClr val="FBFCFE"/>
                </a:solidFill>
                <a:latin typeface="Red Hat Display Bold"/>
                <a:ea typeface="Red Hat Display Bold"/>
                <a:cs typeface="Red Hat Display Bold"/>
                <a:sym typeface="Red Hat Display Bold"/>
              </a:rPr>
              <a:t>Before (What We Heard)</a:t>
            </a:r>
          </a:p>
          <a:p>
            <a:pPr algn="ctr">
              <a:lnSpc>
                <a:spcPts val="3102"/>
              </a:lnSpc>
            </a:pPr>
          </a:p>
        </p:txBody>
      </p:sp>
      <p:sp>
        <p:nvSpPr>
          <p:cNvPr name="TextBox 10" id="10"/>
          <p:cNvSpPr txBox="true"/>
          <p:nvPr/>
        </p:nvSpPr>
        <p:spPr>
          <a:xfrm rot="0">
            <a:off x="1521762" y="4830789"/>
            <a:ext cx="6086538" cy="940434"/>
          </a:xfrm>
          <a:prstGeom prst="rect">
            <a:avLst/>
          </a:prstGeom>
        </p:spPr>
        <p:txBody>
          <a:bodyPr anchor="t" rtlCol="false" tIns="0" lIns="0" bIns="0" rIns="0">
            <a:spAutoFit/>
          </a:bodyPr>
          <a:lstStyle/>
          <a:p>
            <a:pPr algn="ctr">
              <a:lnSpc>
                <a:spcPts val="3815"/>
              </a:lnSpc>
            </a:pPr>
            <a:r>
              <a:rPr lang="en-US" sz="2725">
                <a:solidFill>
                  <a:srgbClr val="2D2261"/>
                </a:solidFill>
                <a:latin typeface="Red Hat Display"/>
                <a:ea typeface="Red Hat Display"/>
                <a:cs typeface="Red Hat Display"/>
                <a:sym typeface="Red Hat Display"/>
              </a:rPr>
              <a:t>"The app should monitor</a:t>
            </a:r>
            <a:r>
              <a:rPr lang="en-US" sz="2725">
                <a:solidFill>
                  <a:srgbClr val="2D2261"/>
                </a:solidFill>
                <a:latin typeface="Red Hat Display"/>
                <a:ea typeface="Red Hat Display"/>
                <a:cs typeface="Red Hat Display"/>
                <a:sym typeface="Red Hat Display"/>
              </a:rPr>
              <a:t> the network"</a:t>
            </a:r>
          </a:p>
          <a:p>
            <a:pPr algn="ctr">
              <a:lnSpc>
                <a:spcPts val="3815"/>
              </a:lnSpc>
            </a:pPr>
          </a:p>
        </p:txBody>
      </p:sp>
      <p:grpSp>
        <p:nvGrpSpPr>
          <p:cNvPr name="Group 11" id="11"/>
          <p:cNvGrpSpPr/>
          <p:nvPr/>
        </p:nvGrpSpPr>
        <p:grpSpPr>
          <a:xfrm rot="0">
            <a:off x="8929650" y="4133568"/>
            <a:ext cx="8329650" cy="3697518"/>
            <a:chOff x="0" y="0"/>
            <a:chExt cx="2193817" cy="973832"/>
          </a:xfrm>
        </p:grpSpPr>
        <p:sp>
          <p:nvSpPr>
            <p:cNvPr name="Freeform 12" id="12"/>
            <p:cNvSpPr/>
            <p:nvPr/>
          </p:nvSpPr>
          <p:spPr>
            <a:xfrm flipH="false" flipV="false" rot="0">
              <a:off x="0" y="0"/>
              <a:ext cx="2193817" cy="973832"/>
            </a:xfrm>
            <a:custGeom>
              <a:avLst/>
              <a:gdLst/>
              <a:ahLst/>
              <a:cxnLst/>
              <a:rect r="r" b="b" t="t" l="l"/>
              <a:pathLst>
                <a:path h="973832" w="2193817">
                  <a:moveTo>
                    <a:pt x="27883" y="0"/>
                  </a:moveTo>
                  <a:lnTo>
                    <a:pt x="2165934" y="0"/>
                  </a:lnTo>
                  <a:cubicBezTo>
                    <a:pt x="2181334" y="0"/>
                    <a:pt x="2193817" y="12484"/>
                    <a:pt x="2193817" y="27883"/>
                  </a:cubicBezTo>
                  <a:lnTo>
                    <a:pt x="2193817" y="945949"/>
                  </a:lnTo>
                  <a:cubicBezTo>
                    <a:pt x="2193817" y="953344"/>
                    <a:pt x="2190880" y="960436"/>
                    <a:pt x="2185651" y="965665"/>
                  </a:cubicBezTo>
                  <a:cubicBezTo>
                    <a:pt x="2180421" y="970894"/>
                    <a:pt x="2173329" y="973832"/>
                    <a:pt x="2165934" y="973832"/>
                  </a:cubicBezTo>
                  <a:lnTo>
                    <a:pt x="27883" y="973832"/>
                  </a:lnTo>
                  <a:cubicBezTo>
                    <a:pt x="20488" y="973832"/>
                    <a:pt x="13396" y="970894"/>
                    <a:pt x="8167" y="965665"/>
                  </a:cubicBezTo>
                  <a:cubicBezTo>
                    <a:pt x="2938" y="960436"/>
                    <a:pt x="0" y="953344"/>
                    <a:pt x="0" y="945949"/>
                  </a:cubicBezTo>
                  <a:lnTo>
                    <a:pt x="0" y="27883"/>
                  </a:lnTo>
                  <a:cubicBezTo>
                    <a:pt x="0" y="20488"/>
                    <a:pt x="2938" y="13396"/>
                    <a:pt x="8167" y="8167"/>
                  </a:cubicBezTo>
                  <a:cubicBezTo>
                    <a:pt x="13396" y="2938"/>
                    <a:pt x="20488" y="0"/>
                    <a:pt x="27883" y="0"/>
                  </a:cubicBezTo>
                  <a:close/>
                </a:path>
              </a:pathLst>
            </a:custGeom>
            <a:solidFill>
              <a:srgbClr val="ECE1D7"/>
            </a:solidFill>
          </p:spPr>
        </p:sp>
        <p:sp>
          <p:nvSpPr>
            <p:cNvPr name="TextBox 13" id="13"/>
            <p:cNvSpPr txBox="true"/>
            <p:nvPr/>
          </p:nvSpPr>
          <p:spPr>
            <a:xfrm>
              <a:off x="0" y="-47625"/>
              <a:ext cx="2193817" cy="1021457"/>
            </a:xfrm>
            <a:prstGeom prst="rect">
              <a:avLst/>
            </a:prstGeom>
          </p:spPr>
          <p:txBody>
            <a:bodyPr anchor="ctr" rtlCol="false" tIns="50800" lIns="50800" bIns="50800" rIns="50800"/>
            <a:lstStyle/>
            <a:p>
              <a:pPr algn="ctr">
                <a:lnSpc>
                  <a:spcPts val="3032"/>
                </a:lnSpc>
              </a:pPr>
            </a:p>
          </p:txBody>
        </p:sp>
      </p:grpSp>
      <p:grpSp>
        <p:nvGrpSpPr>
          <p:cNvPr name="Group 14" id="14"/>
          <p:cNvGrpSpPr/>
          <p:nvPr/>
        </p:nvGrpSpPr>
        <p:grpSpPr>
          <a:xfrm rot="0">
            <a:off x="8929650" y="2663050"/>
            <a:ext cx="8329650" cy="1866815"/>
            <a:chOff x="0" y="0"/>
            <a:chExt cx="2193817" cy="491672"/>
          </a:xfrm>
        </p:grpSpPr>
        <p:sp>
          <p:nvSpPr>
            <p:cNvPr name="Freeform 15" id="15"/>
            <p:cNvSpPr/>
            <p:nvPr/>
          </p:nvSpPr>
          <p:spPr>
            <a:xfrm flipH="false" flipV="false" rot="0">
              <a:off x="0" y="0"/>
              <a:ext cx="2193817" cy="491672"/>
            </a:xfrm>
            <a:custGeom>
              <a:avLst/>
              <a:gdLst/>
              <a:ahLst/>
              <a:cxnLst/>
              <a:rect r="r" b="b" t="t" l="l"/>
              <a:pathLst>
                <a:path h="491672" w="2193817">
                  <a:moveTo>
                    <a:pt x="27883" y="0"/>
                  </a:moveTo>
                  <a:lnTo>
                    <a:pt x="2165934" y="0"/>
                  </a:lnTo>
                  <a:cubicBezTo>
                    <a:pt x="2181334" y="0"/>
                    <a:pt x="2193817" y="12484"/>
                    <a:pt x="2193817" y="27883"/>
                  </a:cubicBezTo>
                  <a:lnTo>
                    <a:pt x="2193817" y="463788"/>
                  </a:lnTo>
                  <a:cubicBezTo>
                    <a:pt x="2193817" y="471183"/>
                    <a:pt x="2190880" y="478276"/>
                    <a:pt x="2185651" y="483505"/>
                  </a:cubicBezTo>
                  <a:cubicBezTo>
                    <a:pt x="2180421" y="488734"/>
                    <a:pt x="2173329" y="491672"/>
                    <a:pt x="2165934" y="491672"/>
                  </a:cubicBezTo>
                  <a:lnTo>
                    <a:pt x="27883" y="491672"/>
                  </a:lnTo>
                  <a:cubicBezTo>
                    <a:pt x="20488" y="491672"/>
                    <a:pt x="13396" y="488734"/>
                    <a:pt x="8167" y="483505"/>
                  </a:cubicBezTo>
                  <a:cubicBezTo>
                    <a:pt x="2938" y="478276"/>
                    <a:pt x="0" y="471183"/>
                    <a:pt x="0" y="463788"/>
                  </a:cubicBezTo>
                  <a:lnTo>
                    <a:pt x="0" y="27883"/>
                  </a:lnTo>
                  <a:cubicBezTo>
                    <a:pt x="0" y="20488"/>
                    <a:pt x="2938" y="13396"/>
                    <a:pt x="8167" y="8167"/>
                  </a:cubicBezTo>
                  <a:cubicBezTo>
                    <a:pt x="13396" y="2938"/>
                    <a:pt x="20488" y="0"/>
                    <a:pt x="27883" y="0"/>
                  </a:cubicBezTo>
                  <a:close/>
                </a:path>
              </a:pathLst>
            </a:custGeom>
            <a:solidFill>
              <a:srgbClr val="5B7ABE"/>
            </a:solidFill>
          </p:spPr>
        </p:sp>
        <p:sp>
          <p:nvSpPr>
            <p:cNvPr name="TextBox 16" id="16"/>
            <p:cNvSpPr txBox="true"/>
            <p:nvPr/>
          </p:nvSpPr>
          <p:spPr>
            <a:xfrm>
              <a:off x="0" y="-47625"/>
              <a:ext cx="2193817" cy="539297"/>
            </a:xfrm>
            <a:prstGeom prst="rect">
              <a:avLst/>
            </a:prstGeom>
          </p:spPr>
          <p:txBody>
            <a:bodyPr anchor="ctr" rtlCol="false" tIns="50800" lIns="50800" bIns="50800" rIns="50800"/>
            <a:lstStyle/>
            <a:p>
              <a:pPr algn="ctr">
                <a:lnSpc>
                  <a:spcPts val="3032"/>
                </a:lnSpc>
              </a:pPr>
            </a:p>
          </p:txBody>
        </p:sp>
      </p:grpSp>
      <p:sp>
        <p:nvSpPr>
          <p:cNvPr name="TextBox 17" id="17"/>
          <p:cNvSpPr txBox="true"/>
          <p:nvPr/>
        </p:nvSpPr>
        <p:spPr>
          <a:xfrm rot="0">
            <a:off x="10795296" y="3249855"/>
            <a:ext cx="3832027" cy="1234440"/>
          </a:xfrm>
          <a:prstGeom prst="rect">
            <a:avLst/>
          </a:prstGeom>
        </p:spPr>
        <p:txBody>
          <a:bodyPr anchor="t" rtlCol="false" tIns="0" lIns="0" bIns="0" rIns="0">
            <a:spAutoFit/>
          </a:bodyPr>
          <a:lstStyle/>
          <a:p>
            <a:pPr algn="ctr">
              <a:lnSpc>
                <a:spcPts val="3359"/>
              </a:lnSpc>
            </a:pPr>
            <a:r>
              <a:rPr lang="en-US" sz="2400" b="true">
                <a:solidFill>
                  <a:srgbClr val="FBFCFE"/>
                </a:solidFill>
                <a:latin typeface="Red Hat Display Bold"/>
                <a:ea typeface="Red Hat Display Bold"/>
                <a:cs typeface="Red Hat Display Bold"/>
                <a:sym typeface="Red Hat Display Bold"/>
              </a:rPr>
              <a:t>After (What We Specified)</a:t>
            </a:r>
          </a:p>
          <a:p>
            <a:pPr algn="ctr">
              <a:lnSpc>
                <a:spcPts val="3359"/>
              </a:lnSpc>
            </a:pPr>
          </a:p>
          <a:p>
            <a:pPr algn="ctr">
              <a:lnSpc>
                <a:spcPts val="3359"/>
              </a:lnSpc>
            </a:pPr>
          </a:p>
        </p:txBody>
      </p:sp>
      <p:sp>
        <p:nvSpPr>
          <p:cNvPr name="TextBox 18" id="18"/>
          <p:cNvSpPr txBox="true"/>
          <p:nvPr/>
        </p:nvSpPr>
        <p:spPr>
          <a:xfrm rot="0">
            <a:off x="9144000" y="4727787"/>
            <a:ext cx="7524971" cy="1390650"/>
          </a:xfrm>
          <a:prstGeom prst="rect">
            <a:avLst/>
          </a:prstGeom>
        </p:spPr>
        <p:txBody>
          <a:bodyPr anchor="t" rtlCol="false" tIns="0" lIns="0" bIns="0" rIns="0">
            <a:spAutoFit/>
          </a:bodyPr>
          <a:lstStyle/>
          <a:p>
            <a:pPr algn="ctr">
              <a:lnSpc>
                <a:spcPts val="2799"/>
              </a:lnSpc>
            </a:pPr>
            <a:r>
              <a:rPr lang="en-US" sz="1999">
                <a:solidFill>
                  <a:srgbClr val="2D2261"/>
                </a:solidFill>
                <a:latin typeface="Red Hat Display"/>
                <a:ea typeface="Red Hat Display"/>
                <a:cs typeface="Red Hat Display"/>
                <a:sym typeface="Red Hat Display"/>
              </a:rPr>
              <a:t>The app shall automatically record signal strength (dBm), latency (ms), jitter, packet loss, network</a:t>
            </a:r>
            <a:r>
              <a:rPr lang="en-US" sz="1999">
                <a:solidFill>
                  <a:srgbClr val="2D2261"/>
                </a:solidFill>
                <a:latin typeface="Red Hat Display"/>
                <a:ea typeface="Red Hat Display"/>
                <a:cs typeface="Red Hat Display"/>
                <a:sym typeface="Red Hat Display"/>
              </a:rPr>
              <a:t> type, and timestamp every 5 minutes in the background</a:t>
            </a:r>
          </a:p>
          <a:p>
            <a:pPr algn="ctr">
              <a:lnSpc>
                <a:spcPts val="1400"/>
              </a:lnSpc>
            </a:pPr>
          </a:p>
          <a:p>
            <a:pPr algn="ctr">
              <a:lnSpc>
                <a:spcPts val="1400"/>
              </a:lnSpc>
            </a:pPr>
          </a:p>
        </p:txBody>
      </p:sp>
      <p:sp>
        <p:nvSpPr>
          <p:cNvPr name="Freeform 19" id="19"/>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3" id="23"/>
          <p:cNvSpPr txBox="true"/>
          <p:nvPr/>
        </p:nvSpPr>
        <p:spPr>
          <a:xfrm rot="0">
            <a:off x="1521762" y="5847423"/>
            <a:ext cx="6086538" cy="940434"/>
          </a:xfrm>
          <a:prstGeom prst="rect">
            <a:avLst/>
          </a:prstGeom>
        </p:spPr>
        <p:txBody>
          <a:bodyPr anchor="t" rtlCol="false" tIns="0" lIns="0" bIns="0" rIns="0">
            <a:spAutoFit/>
          </a:bodyPr>
          <a:lstStyle/>
          <a:p>
            <a:pPr algn="ctr">
              <a:lnSpc>
                <a:spcPts val="3815"/>
              </a:lnSpc>
            </a:pPr>
            <a:r>
              <a:rPr lang="en-US" sz="2725">
                <a:solidFill>
                  <a:srgbClr val="2D2261"/>
                </a:solidFill>
                <a:latin typeface="Red Hat Display"/>
                <a:ea typeface="Red Hat Display"/>
                <a:cs typeface="Red Hat Display"/>
                <a:sym typeface="Red Hat Display"/>
              </a:rPr>
              <a:t>"Users should giv</a:t>
            </a:r>
            <a:r>
              <a:rPr lang="en-US" sz="2725">
                <a:solidFill>
                  <a:srgbClr val="2D2261"/>
                </a:solidFill>
                <a:latin typeface="Red Hat Display"/>
                <a:ea typeface="Red Hat Display"/>
                <a:cs typeface="Red Hat Display"/>
                <a:sym typeface="Red Hat Display"/>
              </a:rPr>
              <a:t>e feedback"</a:t>
            </a:r>
          </a:p>
          <a:p>
            <a:pPr algn="ctr">
              <a:lnSpc>
                <a:spcPts val="3815"/>
              </a:lnSpc>
            </a:pPr>
          </a:p>
        </p:txBody>
      </p:sp>
      <p:sp>
        <p:nvSpPr>
          <p:cNvPr name="TextBox 24" id="24"/>
          <p:cNvSpPr txBox="true"/>
          <p:nvPr/>
        </p:nvSpPr>
        <p:spPr>
          <a:xfrm rot="0">
            <a:off x="9331989" y="6078245"/>
            <a:ext cx="7524971" cy="1390650"/>
          </a:xfrm>
          <a:prstGeom prst="rect">
            <a:avLst/>
          </a:prstGeom>
        </p:spPr>
        <p:txBody>
          <a:bodyPr anchor="t" rtlCol="false" tIns="0" lIns="0" bIns="0" rIns="0">
            <a:spAutoFit/>
          </a:bodyPr>
          <a:lstStyle/>
          <a:p>
            <a:pPr algn="ctr">
              <a:lnSpc>
                <a:spcPts val="2799"/>
              </a:lnSpc>
            </a:pPr>
            <a:r>
              <a:rPr lang="en-US" sz="1999">
                <a:solidFill>
                  <a:srgbClr val="2D2261"/>
                </a:solidFill>
                <a:latin typeface="Red Hat Display"/>
                <a:ea typeface="Red Hat Display"/>
                <a:cs typeface="Red Hat Display"/>
                <a:sym typeface="Red Hat Display"/>
              </a:rPr>
              <a:t>The app shall prompt users no more than 3 times per day with a 1–5 star rating screen covering call quality, internet</a:t>
            </a:r>
            <a:r>
              <a:rPr lang="en-US" sz="1999">
                <a:solidFill>
                  <a:srgbClr val="2D2261"/>
                </a:solidFill>
                <a:latin typeface="Red Hat Display"/>
                <a:ea typeface="Red Hat Display"/>
                <a:cs typeface="Red Hat Display"/>
                <a:sym typeface="Red Hat Display"/>
              </a:rPr>
              <a:t> speed, and overall satisfaction</a:t>
            </a:r>
          </a:p>
          <a:p>
            <a:pPr algn="ctr">
              <a:lnSpc>
                <a:spcPts val="1400"/>
              </a:lnSpc>
            </a:pPr>
          </a:p>
          <a:p>
            <a:pPr algn="ctr">
              <a:lnSpc>
                <a:spcPts val="14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6601135" y="3796209"/>
            <a:ext cx="1381570" cy="1381570"/>
          </a:xfrm>
          <a:custGeom>
            <a:avLst/>
            <a:gdLst/>
            <a:ahLst/>
            <a:cxnLst/>
            <a:rect r="r" b="b" t="t" l="l"/>
            <a:pathLst>
              <a:path h="1381570" w="1381570">
                <a:moveTo>
                  <a:pt x="0" y="0"/>
                </a:moveTo>
                <a:lnTo>
                  <a:pt x="1381570" y="0"/>
                </a:lnTo>
                <a:lnTo>
                  <a:pt x="1381570" y="1381571"/>
                </a:lnTo>
                <a:lnTo>
                  <a:pt x="0" y="1381571"/>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01135" y="5585432"/>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636369" y="7376577"/>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777171" y="3972245"/>
            <a:ext cx="1029499" cy="102949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8" id="8"/>
          <p:cNvGrpSpPr/>
          <p:nvPr/>
        </p:nvGrpSpPr>
        <p:grpSpPr>
          <a:xfrm rot="0">
            <a:off x="6777171" y="5761468"/>
            <a:ext cx="1029499" cy="102949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11" id="11"/>
          <p:cNvGrpSpPr/>
          <p:nvPr/>
        </p:nvGrpSpPr>
        <p:grpSpPr>
          <a:xfrm rot="0">
            <a:off x="6812404" y="7552613"/>
            <a:ext cx="1029499" cy="10294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Freeform 14" id="14"/>
          <p:cNvSpPr/>
          <p:nvPr/>
        </p:nvSpPr>
        <p:spPr>
          <a:xfrm flipH="false" flipV="false" rot="0">
            <a:off x="1028700" y="3366111"/>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8251746" y="4634979"/>
            <a:ext cx="7516956" cy="682625"/>
          </a:xfrm>
          <a:prstGeom prst="rect">
            <a:avLst/>
          </a:prstGeom>
        </p:spPr>
        <p:txBody>
          <a:bodyPr anchor="t" rtlCol="false" tIns="0" lIns="0" bIns="0" rIns="0">
            <a:spAutoFit/>
          </a:bodyPr>
          <a:lstStyle/>
          <a:p>
            <a:pPr algn="l">
              <a:lnSpc>
                <a:spcPts val="2799"/>
              </a:lnSpc>
            </a:pPr>
            <a:r>
              <a:rPr lang="en-US" sz="1999">
                <a:solidFill>
                  <a:srgbClr val="5B7ABE"/>
                </a:solidFill>
                <a:latin typeface="Red Hat Display"/>
                <a:ea typeface="Red Hat Display"/>
                <a:cs typeface="Red Hat Display"/>
                <a:sym typeface="Red Hat Display"/>
              </a:rPr>
              <a:t>70% of users on Android. Android provides TelephonyManager, ConnectivityManager, ForegroundService APIs </a:t>
            </a:r>
          </a:p>
        </p:txBody>
      </p:sp>
      <p:sp>
        <p:nvSpPr>
          <p:cNvPr name="TextBox 16" id="16"/>
          <p:cNvSpPr txBox="true"/>
          <p:nvPr/>
        </p:nvSpPr>
        <p:spPr>
          <a:xfrm rot="0">
            <a:off x="8251746" y="6414677"/>
            <a:ext cx="7516956" cy="356235"/>
          </a:xfrm>
          <a:prstGeom prst="rect">
            <a:avLst/>
          </a:prstGeom>
        </p:spPr>
        <p:txBody>
          <a:bodyPr anchor="t" rtlCol="false" tIns="0" lIns="0" bIns="0" rIns="0">
            <a:spAutoFit/>
          </a:bodyPr>
          <a:lstStyle/>
          <a:p>
            <a:pPr algn="l">
              <a:lnSpc>
                <a:spcPts val="2939"/>
              </a:lnSpc>
            </a:pPr>
            <a:r>
              <a:rPr lang="en-US" sz="2099">
                <a:solidFill>
                  <a:srgbClr val="5B7ABE"/>
                </a:solidFill>
                <a:latin typeface="Red Hat Display"/>
                <a:ea typeface="Red Hat Display"/>
                <a:cs typeface="Red Hat Display"/>
                <a:sym typeface="Red Hat Display"/>
              </a:rPr>
              <a:t>Signal strength, network type, latency accessible via public APIs</a:t>
            </a:r>
          </a:p>
        </p:txBody>
      </p:sp>
      <p:sp>
        <p:nvSpPr>
          <p:cNvPr name="TextBox 17" id="17"/>
          <p:cNvSpPr txBox="true"/>
          <p:nvPr/>
        </p:nvSpPr>
        <p:spPr>
          <a:xfrm rot="0">
            <a:off x="8286979" y="8215347"/>
            <a:ext cx="7516956" cy="682625"/>
          </a:xfrm>
          <a:prstGeom prst="rect">
            <a:avLst/>
          </a:prstGeom>
        </p:spPr>
        <p:txBody>
          <a:bodyPr anchor="t" rtlCol="false" tIns="0" lIns="0" bIns="0" rIns="0">
            <a:spAutoFit/>
          </a:bodyPr>
          <a:lstStyle/>
          <a:p>
            <a:pPr algn="l">
              <a:lnSpc>
                <a:spcPts val="2799"/>
              </a:lnSpc>
            </a:pPr>
            <a:r>
              <a:rPr lang="en-US" sz="1999">
                <a:solidFill>
                  <a:srgbClr val="5B7ABE"/>
                </a:solidFill>
                <a:latin typeface="Red Hat Display"/>
                <a:ea typeface="Red Hat Display"/>
                <a:cs typeface="Red Hat Display"/>
                <a:sym typeface="Red Hat Display"/>
              </a:rPr>
              <a:t>WorkManager with periodic intervals + coarse location = battery under control</a:t>
            </a:r>
          </a:p>
        </p:txBody>
      </p:sp>
      <p:sp>
        <p:nvSpPr>
          <p:cNvPr name="TextBox 18" id="18"/>
          <p:cNvSpPr txBox="true"/>
          <p:nvPr/>
        </p:nvSpPr>
        <p:spPr>
          <a:xfrm rot="0">
            <a:off x="8251746" y="4030431"/>
            <a:ext cx="5936813" cy="432029"/>
          </a:xfrm>
          <a:prstGeom prst="rect">
            <a:avLst/>
          </a:prstGeom>
        </p:spPr>
        <p:txBody>
          <a:bodyPr anchor="t" rtlCol="false" tIns="0" lIns="0" bIns="0" rIns="0">
            <a:spAutoFit/>
          </a:bodyPr>
          <a:lstStyle/>
          <a:p>
            <a:pPr algn="l">
              <a:lnSpc>
                <a:spcPts val="3483"/>
              </a:lnSpc>
            </a:pPr>
            <a:r>
              <a:rPr lang="en-US" b="true" sz="2799">
                <a:solidFill>
                  <a:srgbClr val="2D2261"/>
                </a:solidFill>
                <a:latin typeface="Red Hat Display Bold"/>
                <a:ea typeface="Red Hat Display Bold"/>
                <a:cs typeface="Red Hat Display Bold"/>
                <a:sym typeface="Red Hat Display Bold"/>
              </a:rPr>
              <a:t>Platform Feasibility</a:t>
            </a:r>
          </a:p>
        </p:txBody>
      </p:sp>
      <p:sp>
        <p:nvSpPr>
          <p:cNvPr name="TextBox 19" id="19"/>
          <p:cNvSpPr txBox="true"/>
          <p:nvPr/>
        </p:nvSpPr>
        <p:spPr>
          <a:xfrm rot="0">
            <a:off x="8251746" y="5819654"/>
            <a:ext cx="7748151" cy="432029"/>
          </a:xfrm>
          <a:prstGeom prst="rect">
            <a:avLst/>
          </a:prstGeom>
        </p:spPr>
        <p:txBody>
          <a:bodyPr anchor="t" rtlCol="false" tIns="0" lIns="0" bIns="0" rIns="0">
            <a:spAutoFit/>
          </a:bodyPr>
          <a:lstStyle/>
          <a:p>
            <a:pPr algn="l">
              <a:lnSpc>
                <a:spcPts val="3483"/>
              </a:lnSpc>
            </a:pPr>
            <a:r>
              <a:rPr lang="en-US" b="true" sz="2799">
                <a:solidFill>
                  <a:srgbClr val="2D2261"/>
                </a:solidFill>
                <a:latin typeface="Red Hat Display Bold"/>
                <a:ea typeface="Red Hat Display Bold"/>
                <a:cs typeface="Red Hat Display Bold"/>
                <a:sym typeface="Red Hat Display Bold"/>
              </a:rPr>
              <a:t> Data Collection Feasibility</a:t>
            </a:r>
          </a:p>
        </p:txBody>
      </p:sp>
      <p:sp>
        <p:nvSpPr>
          <p:cNvPr name="TextBox 20" id="20"/>
          <p:cNvSpPr txBox="true"/>
          <p:nvPr/>
        </p:nvSpPr>
        <p:spPr>
          <a:xfrm rot="0">
            <a:off x="8286979" y="7610799"/>
            <a:ext cx="5936813" cy="432029"/>
          </a:xfrm>
          <a:prstGeom prst="rect">
            <a:avLst/>
          </a:prstGeom>
        </p:spPr>
        <p:txBody>
          <a:bodyPr anchor="t" rtlCol="false" tIns="0" lIns="0" bIns="0" rIns="0">
            <a:spAutoFit/>
          </a:bodyPr>
          <a:lstStyle/>
          <a:p>
            <a:pPr algn="l">
              <a:lnSpc>
                <a:spcPts val="3483"/>
              </a:lnSpc>
            </a:pPr>
            <a:r>
              <a:rPr lang="en-US" b="true" sz="2799">
                <a:solidFill>
                  <a:srgbClr val="2D2261"/>
                </a:solidFill>
                <a:latin typeface="Red Hat Display Bold"/>
                <a:ea typeface="Red Hat Display Bold"/>
                <a:cs typeface="Red Hat Display Bold"/>
                <a:sym typeface="Red Hat Display Bold"/>
              </a:rPr>
              <a:t>Performance Feasibility</a:t>
            </a:r>
          </a:p>
        </p:txBody>
      </p:sp>
      <p:sp>
        <p:nvSpPr>
          <p:cNvPr name="TextBox 21" id="21"/>
          <p:cNvSpPr txBox="true"/>
          <p:nvPr/>
        </p:nvSpPr>
        <p:spPr>
          <a:xfrm rot="0">
            <a:off x="6812008" y="4233998"/>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01</a:t>
            </a:r>
          </a:p>
        </p:txBody>
      </p:sp>
      <p:sp>
        <p:nvSpPr>
          <p:cNvPr name="TextBox 22" id="22"/>
          <p:cNvSpPr txBox="true"/>
          <p:nvPr/>
        </p:nvSpPr>
        <p:spPr>
          <a:xfrm rot="0">
            <a:off x="6812008" y="6023220"/>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02</a:t>
            </a:r>
          </a:p>
        </p:txBody>
      </p:sp>
      <p:sp>
        <p:nvSpPr>
          <p:cNvPr name="TextBox 23" id="23"/>
          <p:cNvSpPr txBox="true"/>
          <p:nvPr/>
        </p:nvSpPr>
        <p:spPr>
          <a:xfrm rot="0">
            <a:off x="6847241" y="7814365"/>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03</a:t>
            </a:r>
          </a:p>
        </p:txBody>
      </p:sp>
      <p:sp>
        <p:nvSpPr>
          <p:cNvPr name="TextBox 24" id="24"/>
          <p:cNvSpPr txBox="true"/>
          <p:nvPr/>
        </p:nvSpPr>
        <p:spPr>
          <a:xfrm rot="0">
            <a:off x="6601135" y="1212317"/>
            <a:ext cx="6559765" cy="1469058"/>
          </a:xfrm>
          <a:prstGeom prst="rect">
            <a:avLst/>
          </a:prstGeom>
        </p:spPr>
        <p:txBody>
          <a:bodyPr anchor="t" rtlCol="false" tIns="0" lIns="0" bIns="0" rIns="0">
            <a:spAutoFit/>
          </a:bodyPr>
          <a:lstStyle/>
          <a:p>
            <a:pPr algn="l">
              <a:lnSpc>
                <a:spcPts val="5869"/>
              </a:lnSpc>
            </a:pPr>
            <a:r>
              <a:rPr lang="en-US" sz="4718" b="true">
                <a:solidFill>
                  <a:srgbClr val="2D2261"/>
                </a:solidFill>
                <a:latin typeface="Red Hat Display Bold"/>
                <a:ea typeface="Red Hat Display Bold"/>
                <a:cs typeface="Red Hat Display Bold"/>
                <a:sym typeface="Red Hat Display Bold"/>
              </a:rPr>
              <a:t>Technical Feasibility</a:t>
            </a:r>
          </a:p>
          <a:p>
            <a:pPr algn="l">
              <a:lnSpc>
                <a:spcPts val="5869"/>
              </a:lnSpc>
            </a:pPr>
          </a:p>
        </p:txBody>
      </p:sp>
      <p:sp>
        <p:nvSpPr>
          <p:cNvPr name="Freeform 25" id="25"/>
          <p:cNvSpPr/>
          <p:nvPr/>
        </p:nvSpPr>
        <p:spPr>
          <a:xfrm flipH="false" flipV="false" rot="0">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Freeform 27" id="27"/>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264475" y="952500"/>
            <a:ext cx="9759051"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Dependencies</a:t>
            </a:r>
          </a:p>
        </p:txBody>
      </p:sp>
      <p:sp>
        <p:nvSpPr>
          <p:cNvPr name="Freeform 3" id="3"/>
          <p:cNvSpPr/>
          <p:nvPr/>
        </p:nvSpPr>
        <p:spPr>
          <a:xfrm flipH="false" flipV="false" rot="-2080684">
            <a:off x="11208391" y="8036663"/>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7" id="7"/>
          <p:cNvGraphicFramePr>
            <a:graphicFrameLocks noGrp="true"/>
          </p:cNvGraphicFramePr>
          <p:nvPr/>
        </p:nvGraphicFramePr>
        <p:xfrm>
          <a:off x="2539566" y="3086100"/>
          <a:ext cx="12480647" cy="4114800"/>
        </p:xfrm>
        <a:graphic>
          <a:graphicData uri="http://schemas.openxmlformats.org/drawingml/2006/table">
            <a:tbl>
              <a:tblPr/>
              <a:tblGrid>
                <a:gridCol w="6605549"/>
                <a:gridCol w="5875098"/>
              </a:tblGrid>
              <a:tr h="1028700">
                <a:tc>
                  <a:txBody>
                    <a:bodyPr anchor="t" rtlCol="false"/>
                    <a:lstStyle/>
                    <a:p>
                      <a:pPr algn="ctr">
                        <a:lnSpc>
                          <a:spcPts val="3359"/>
                        </a:lnSpc>
                        <a:defRPr/>
                      </a:pPr>
                      <a:r>
                        <a:rPr lang="en-US" sz="2399">
                          <a:solidFill>
                            <a:srgbClr val="000000"/>
                          </a:solidFill>
                          <a:latin typeface="Red Hat Display"/>
                          <a:ea typeface="Red Hat Display"/>
                          <a:cs typeface="Red Hat Display"/>
                          <a:sym typeface="Red Hat Display"/>
                        </a:rPr>
                        <a:t>REQUIREMENTS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19"/>
                        </a:lnSpc>
                        <a:defRPr/>
                      </a:pPr>
                      <a:r>
                        <a:rPr lang="en-US" sz="2299" b="true">
                          <a:solidFill>
                            <a:srgbClr val="000000"/>
                          </a:solidFill>
                          <a:latin typeface="Red Hat Display Bold"/>
                          <a:ea typeface="Red Hat Display Bold"/>
                          <a:cs typeface="Red Hat Display Bold"/>
                          <a:sym typeface="Red Hat Display Bold"/>
                        </a:rPr>
                        <a:t>DEPENDENCY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700">
                <a:tc>
                  <a:txBody>
                    <a:bodyPr anchor="t" rtlCol="false"/>
                    <a:lstStyle/>
                    <a:p>
                      <a:pPr algn="ctr">
                        <a:lnSpc>
                          <a:spcPts val="3639"/>
                        </a:lnSpc>
                        <a:defRPr/>
                      </a:pPr>
                      <a:r>
                        <a:rPr lang="en-US" sz="2599">
                          <a:solidFill>
                            <a:srgbClr val="000000"/>
                          </a:solidFill>
                          <a:latin typeface="Red Hat Display"/>
                          <a:ea typeface="Red Hat Display"/>
                          <a:cs typeface="Red Hat Display"/>
                          <a:sym typeface="Red Hat Display"/>
                        </a:rPr>
                        <a:t>Real-time data synchronization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Red Hat Display"/>
                          <a:ea typeface="Red Hat Display"/>
                          <a:cs typeface="Red Hat Display"/>
                          <a:sym typeface="Red Hat Display"/>
                        </a:rPr>
                        <a:t>Internet connectivity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700">
                <a:tc>
                  <a:txBody>
                    <a:bodyPr anchor="t" rtlCol="false"/>
                    <a:lstStyle/>
                    <a:p>
                      <a:pPr algn="ctr">
                        <a:lnSpc>
                          <a:spcPts val="4199"/>
                        </a:lnSpc>
                        <a:defRPr/>
                      </a:pPr>
                      <a:r>
                        <a:rPr lang="en-US" sz="2999">
                          <a:solidFill>
                            <a:srgbClr val="000000"/>
                          </a:solidFill>
                          <a:latin typeface="Red Hat Display"/>
                          <a:ea typeface="Red Hat Display"/>
                          <a:cs typeface="Red Hat Display"/>
                          <a:sym typeface="Red Hat Display"/>
                        </a:rPr>
                        <a:t>Location-based monitoring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39"/>
                        </a:lnSpc>
                        <a:defRPr/>
                      </a:pPr>
                      <a:r>
                        <a:rPr lang="en-US" sz="2599">
                          <a:solidFill>
                            <a:srgbClr val="000000"/>
                          </a:solidFill>
                          <a:latin typeface="Red Hat Display"/>
                          <a:ea typeface="Red Hat Display"/>
                          <a:cs typeface="Red Hat Display"/>
                          <a:sym typeface="Red Hat Display"/>
                        </a:rPr>
                        <a:t>GPS permission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700">
                <a:tc>
                  <a:txBody>
                    <a:bodyPr anchor="t" rtlCol="false"/>
                    <a:lstStyle/>
                    <a:p>
                      <a:pPr algn="ctr">
                        <a:lnSpc>
                          <a:spcPts val="3639"/>
                        </a:lnSpc>
                        <a:defRPr/>
                      </a:pPr>
                      <a:r>
                        <a:rPr lang="en-US" sz="2599">
                          <a:solidFill>
                            <a:srgbClr val="000000"/>
                          </a:solidFill>
                          <a:latin typeface="Red Hat Display"/>
                          <a:ea typeface="Red Hat Display"/>
                          <a:cs typeface="Red Hat Display"/>
                          <a:sym typeface="Red Hat Display"/>
                        </a:rPr>
                        <a:t>GPS permission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39"/>
                        </a:lnSpc>
                        <a:defRPr/>
                      </a:pPr>
                      <a:r>
                        <a:rPr lang="en-US" sz="2599">
                          <a:solidFill>
                            <a:srgbClr val="000000"/>
                          </a:solidFill>
                          <a:latin typeface="Red Hat Display"/>
                          <a:ea typeface="Red Hat Display"/>
                          <a:cs typeface="Red Hat Display"/>
                          <a:sym typeface="Red Hat Display"/>
                        </a:rPr>
                        <a:t>Android device APIs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pSp>
        <p:nvGrpSpPr>
          <p:cNvPr name="Group 8" id="8"/>
          <p:cNvGrpSpPr/>
          <p:nvPr/>
        </p:nvGrpSpPr>
        <p:grpSpPr>
          <a:xfrm rot="0">
            <a:off x="3888390" y="7642817"/>
            <a:ext cx="10544801" cy="2348990"/>
            <a:chOff x="0" y="0"/>
            <a:chExt cx="2777231" cy="618664"/>
          </a:xfrm>
        </p:grpSpPr>
        <p:sp>
          <p:nvSpPr>
            <p:cNvPr name="Freeform 9" id="9"/>
            <p:cNvSpPr/>
            <p:nvPr/>
          </p:nvSpPr>
          <p:spPr>
            <a:xfrm flipH="false" flipV="false" rot="0">
              <a:off x="0" y="0"/>
              <a:ext cx="2777231" cy="618664"/>
            </a:xfrm>
            <a:custGeom>
              <a:avLst/>
              <a:gdLst/>
              <a:ahLst/>
              <a:cxnLst/>
              <a:rect r="r" b="b" t="t" l="l"/>
              <a:pathLst>
                <a:path h="618664" w="2777231">
                  <a:moveTo>
                    <a:pt x="12481" y="0"/>
                  </a:moveTo>
                  <a:lnTo>
                    <a:pt x="2764750" y="0"/>
                  </a:lnTo>
                  <a:cubicBezTo>
                    <a:pt x="2771643" y="0"/>
                    <a:pt x="2777231" y="5588"/>
                    <a:pt x="2777231" y="12481"/>
                  </a:cubicBezTo>
                  <a:lnTo>
                    <a:pt x="2777231" y="606183"/>
                  </a:lnTo>
                  <a:cubicBezTo>
                    <a:pt x="2777231" y="609493"/>
                    <a:pt x="2775916" y="612668"/>
                    <a:pt x="2773576" y="615008"/>
                  </a:cubicBezTo>
                  <a:cubicBezTo>
                    <a:pt x="2771235" y="617349"/>
                    <a:pt x="2768060" y="618664"/>
                    <a:pt x="2764750" y="618664"/>
                  </a:cubicBezTo>
                  <a:lnTo>
                    <a:pt x="12481" y="618664"/>
                  </a:lnTo>
                  <a:cubicBezTo>
                    <a:pt x="9171" y="618664"/>
                    <a:pt x="5996" y="617349"/>
                    <a:pt x="3656" y="615008"/>
                  </a:cubicBezTo>
                  <a:cubicBezTo>
                    <a:pt x="1315" y="612668"/>
                    <a:pt x="0" y="609493"/>
                    <a:pt x="0" y="606183"/>
                  </a:cubicBezTo>
                  <a:lnTo>
                    <a:pt x="0" y="12481"/>
                  </a:lnTo>
                  <a:cubicBezTo>
                    <a:pt x="0" y="9171"/>
                    <a:pt x="1315" y="5996"/>
                    <a:pt x="3656" y="3656"/>
                  </a:cubicBezTo>
                  <a:cubicBezTo>
                    <a:pt x="5996" y="1315"/>
                    <a:pt x="9171" y="0"/>
                    <a:pt x="12481" y="0"/>
                  </a:cubicBezTo>
                  <a:close/>
                </a:path>
              </a:pathLst>
            </a:custGeom>
            <a:solidFill>
              <a:srgbClr val="FBFCFE"/>
            </a:solidFill>
          </p:spPr>
        </p:sp>
        <p:sp>
          <p:nvSpPr>
            <p:cNvPr name="TextBox 10" id="10"/>
            <p:cNvSpPr txBox="true"/>
            <p:nvPr/>
          </p:nvSpPr>
          <p:spPr>
            <a:xfrm>
              <a:off x="0" y="-47625"/>
              <a:ext cx="2777231" cy="666289"/>
            </a:xfrm>
            <a:prstGeom prst="rect">
              <a:avLst/>
            </a:prstGeom>
          </p:spPr>
          <p:txBody>
            <a:bodyPr anchor="ctr" rtlCol="false" tIns="50800" lIns="50800" bIns="50800" rIns="50800"/>
            <a:lstStyle/>
            <a:p>
              <a:pPr algn="ctr">
                <a:lnSpc>
                  <a:spcPts val="3032"/>
                </a:lnSpc>
              </a:pPr>
              <a:r>
                <a:rPr lang="en-US" sz="2166" b="true">
                  <a:solidFill>
                    <a:srgbClr val="000000"/>
                  </a:solidFill>
                  <a:latin typeface="Roboto Slab Bold"/>
                  <a:ea typeface="Roboto Slab Bold"/>
                  <a:cs typeface="Roboto Slab Bold"/>
                  <a:sym typeface="Roboto Slab Bold"/>
                </a:rPr>
                <a:t>For example:</a:t>
              </a:r>
            </a:p>
            <a:p>
              <a:pPr algn="ctr">
                <a:lnSpc>
                  <a:spcPts val="3032"/>
                </a:lnSpc>
              </a:pPr>
              <a:r>
                <a:rPr lang="en-US" sz="2166">
                  <a:solidFill>
                    <a:srgbClr val="000000"/>
                  </a:solidFill>
                  <a:latin typeface="Roboto Slab"/>
                  <a:ea typeface="Roboto Slab"/>
                  <a:cs typeface="Roboto Slab"/>
                  <a:sym typeface="Roboto Slab"/>
                </a:rPr>
                <a:t>▪ The application cannot perform location analysis unless GPS access is granted. </a:t>
              </a:r>
            </a:p>
            <a:p>
              <a:pPr algn="ctr">
                <a:lnSpc>
                  <a:spcPts val="3032"/>
                </a:lnSpc>
              </a:pPr>
              <a:r>
                <a:rPr lang="en-US" sz="2166">
                  <a:solidFill>
                    <a:srgbClr val="000000"/>
                  </a:solidFill>
                  <a:latin typeface="Roboto Slab"/>
                  <a:ea typeface="Roboto Slab"/>
                  <a:cs typeface="Roboto Slab"/>
                  <a:sym typeface="Roboto Slab"/>
                </a:rPr>
                <a:t>▪ Real-time synchronization cannot function without internet access.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366111"/>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01135" y="3239156"/>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4">
              <a:alphaModFix amt="48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6777171" y="3415191"/>
            <a:ext cx="1029499" cy="102949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7" id="7"/>
          <p:cNvSpPr txBox="true"/>
          <p:nvPr/>
        </p:nvSpPr>
        <p:spPr>
          <a:xfrm rot="0">
            <a:off x="8251746" y="4522470"/>
            <a:ext cx="8359747" cy="2325370"/>
          </a:xfrm>
          <a:prstGeom prst="rect">
            <a:avLst/>
          </a:prstGeom>
        </p:spPr>
        <p:txBody>
          <a:bodyPr anchor="t" rtlCol="false" tIns="0" lIns="0" bIns="0" rIns="0">
            <a:spAutoFit/>
          </a:bodyPr>
          <a:lstStyle/>
          <a:p>
            <a:pPr algn="l" marL="474978" indent="-237489" lvl="1">
              <a:lnSpc>
                <a:spcPts val="3079"/>
              </a:lnSpc>
              <a:buFont typeface="Arial"/>
              <a:buChar char="•"/>
            </a:pPr>
            <a:r>
              <a:rPr lang="en-US" sz="2199">
                <a:solidFill>
                  <a:srgbClr val="5B7ABE"/>
                </a:solidFill>
                <a:latin typeface="Red Hat Display"/>
                <a:ea typeface="Red Hat Display"/>
                <a:cs typeface="Red Hat Display"/>
                <a:sym typeface="Red Hat Display"/>
              </a:rPr>
              <a:t>"mtn" / "MTN" / "Mtn" → all standardized to "MTN"</a:t>
            </a:r>
          </a:p>
          <a:p>
            <a:pPr algn="l" marL="474978" indent="-237489" lvl="1">
              <a:lnSpc>
                <a:spcPts val="3079"/>
              </a:lnSpc>
              <a:buFont typeface="Arial"/>
              <a:buChar char="•"/>
            </a:pPr>
            <a:r>
              <a:rPr lang="en-US" sz="2199">
                <a:solidFill>
                  <a:srgbClr val="5B7ABE"/>
                </a:solidFill>
                <a:latin typeface="Red Hat Display"/>
                <a:ea typeface="Red Hat Display"/>
                <a:cs typeface="Red Hat Display"/>
                <a:sym typeface="Red Hat Display"/>
              </a:rPr>
              <a:t>"Andriod" → "Android" (94 entries)</a:t>
            </a:r>
          </a:p>
          <a:p>
            <a:pPr algn="l" marL="474978" indent="-237489" lvl="1">
              <a:lnSpc>
                <a:spcPts val="3079"/>
              </a:lnSpc>
              <a:buFont typeface="Arial"/>
              <a:buChar char="•"/>
            </a:pPr>
            <a:r>
              <a:rPr lang="en-US" sz="2199">
                <a:solidFill>
                  <a:srgbClr val="5B7ABE"/>
                </a:solidFill>
                <a:latin typeface="Red Hat Display"/>
                <a:ea typeface="Red Hat Display"/>
                <a:cs typeface="Red Hat Display"/>
                <a:sym typeface="Red Hat Display"/>
              </a:rPr>
              <a:t>"iphone" / "iPhone" → standardized to "iPhone"</a:t>
            </a:r>
          </a:p>
          <a:p>
            <a:pPr algn="l" marL="474978" indent="-237489" lvl="1">
              <a:lnSpc>
                <a:spcPts val="3079"/>
              </a:lnSpc>
              <a:buFont typeface="Arial"/>
              <a:buChar char="•"/>
            </a:pPr>
            <a:r>
              <a:rPr lang="en-US" sz="2199">
                <a:solidFill>
                  <a:srgbClr val="5B7ABE"/>
                </a:solidFill>
                <a:latin typeface="Red Hat Display"/>
                <a:ea typeface="Red Hat Display"/>
                <a:cs typeface="Red Hat Display"/>
                <a:sym typeface="Red Hat Display"/>
              </a:rPr>
              <a:t>"Ooccasionally" → "Occasionally"</a:t>
            </a:r>
          </a:p>
          <a:p>
            <a:pPr algn="l" marL="474978" indent="-237489" lvl="1">
              <a:lnSpc>
                <a:spcPts val="3079"/>
              </a:lnSpc>
              <a:buFont typeface="Arial"/>
              <a:buChar char="•"/>
            </a:pPr>
            <a:r>
              <a:rPr lang="en-US" sz="2199">
                <a:solidFill>
                  <a:srgbClr val="5B7ABE"/>
                </a:solidFill>
                <a:latin typeface="Red Hat Display"/>
                <a:ea typeface="Red Hat Display"/>
                <a:cs typeface="Red Hat Display"/>
                <a:sym typeface="Red Hat Display"/>
              </a:rPr>
              <a:t>"Orange</a:t>
            </a:r>
            <a:r>
              <a:rPr lang="en-US" sz="2199">
                <a:solidFill>
                  <a:srgbClr val="5B7ABE"/>
                </a:solidFill>
                <a:latin typeface="Red Hat Display"/>
                <a:ea typeface="Red Hat Display"/>
                <a:cs typeface="Red Hat Display"/>
                <a:sym typeface="Red Hat Display"/>
              </a:rPr>
              <a:t> Cameroon" / "Orange" → standardized to "ORANGE"</a:t>
            </a:r>
          </a:p>
          <a:p>
            <a:pPr algn="l">
              <a:lnSpc>
                <a:spcPts val="3079"/>
              </a:lnSpc>
            </a:pPr>
          </a:p>
        </p:txBody>
      </p:sp>
      <p:sp>
        <p:nvSpPr>
          <p:cNvPr name="TextBox 8" id="8"/>
          <p:cNvSpPr txBox="true"/>
          <p:nvPr/>
        </p:nvSpPr>
        <p:spPr>
          <a:xfrm rot="0">
            <a:off x="8251746" y="3431698"/>
            <a:ext cx="6484535" cy="1018213"/>
          </a:xfrm>
          <a:prstGeom prst="rect">
            <a:avLst/>
          </a:prstGeom>
        </p:spPr>
        <p:txBody>
          <a:bodyPr anchor="t" rtlCol="false" tIns="0" lIns="0" bIns="0" rIns="0">
            <a:spAutoFit/>
          </a:bodyPr>
          <a:lstStyle/>
          <a:p>
            <a:pPr algn="l">
              <a:lnSpc>
                <a:spcPts val="3403"/>
              </a:lnSpc>
            </a:pPr>
            <a:r>
              <a:rPr lang="en-US" sz="2735" b="true">
                <a:solidFill>
                  <a:srgbClr val="2D2261"/>
                </a:solidFill>
                <a:latin typeface="Red Hat Display Bold"/>
                <a:ea typeface="Red Hat Display Bold"/>
                <a:cs typeface="Red Hat Display Bold"/>
                <a:sym typeface="Red Hat Display Bold"/>
              </a:rPr>
              <a:t>Spelling and formatting errors corrected:</a:t>
            </a:r>
          </a:p>
          <a:p>
            <a:pPr algn="l">
              <a:lnSpc>
                <a:spcPts val="1266"/>
              </a:lnSpc>
            </a:pPr>
          </a:p>
        </p:txBody>
      </p:sp>
      <p:sp>
        <p:nvSpPr>
          <p:cNvPr name="TextBox 9" id="9"/>
          <p:cNvSpPr txBox="true"/>
          <p:nvPr/>
        </p:nvSpPr>
        <p:spPr>
          <a:xfrm rot="0">
            <a:off x="6812008" y="3676944"/>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01</a:t>
            </a:r>
          </a:p>
        </p:txBody>
      </p:sp>
      <p:sp>
        <p:nvSpPr>
          <p:cNvPr name="Freeform 10" id="10"/>
          <p:cNvSpPr/>
          <p:nvPr/>
        </p:nvSpPr>
        <p:spPr>
          <a:xfrm flipH="false" flipV="false" rot="0">
            <a:off x="6566298" y="6570438"/>
            <a:ext cx="1381570" cy="1381570"/>
          </a:xfrm>
          <a:custGeom>
            <a:avLst/>
            <a:gdLst/>
            <a:ahLst/>
            <a:cxnLst/>
            <a:rect r="r" b="b" t="t" l="l"/>
            <a:pathLst>
              <a:path h="1381570" w="1381570">
                <a:moveTo>
                  <a:pt x="0" y="0"/>
                </a:moveTo>
                <a:lnTo>
                  <a:pt x="1381571" y="0"/>
                </a:lnTo>
                <a:lnTo>
                  <a:pt x="1381571" y="1381570"/>
                </a:lnTo>
                <a:lnTo>
                  <a:pt x="0" y="1381570"/>
                </a:lnTo>
                <a:lnTo>
                  <a:pt x="0" y="0"/>
                </a:lnTo>
                <a:close/>
              </a:path>
            </a:pathLst>
          </a:custGeom>
          <a:blipFill>
            <a:blip r:embed="rId4">
              <a:alphaModFix amt="48000"/>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6777171" y="6570438"/>
            <a:ext cx="1029499" cy="10294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14" id="14"/>
          <p:cNvSpPr txBox="true"/>
          <p:nvPr/>
        </p:nvSpPr>
        <p:spPr>
          <a:xfrm rot="0">
            <a:off x="8115412" y="7987210"/>
            <a:ext cx="8632414" cy="1653540"/>
          </a:xfrm>
          <a:prstGeom prst="rect">
            <a:avLst/>
          </a:prstGeom>
        </p:spPr>
        <p:txBody>
          <a:bodyPr anchor="t" rtlCol="false" tIns="0" lIns="0" bIns="0" rIns="0">
            <a:spAutoFit/>
          </a:bodyPr>
          <a:lstStyle/>
          <a:p>
            <a:pPr algn="l" marL="518157" indent="-259078" lvl="1">
              <a:lnSpc>
                <a:spcPts val="3359"/>
              </a:lnSpc>
              <a:buFont typeface="Arial"/>
              <a:buChar char="•"/>
            </a:pPr>
            <a:r>
              <a:rPr lang="en-US" sz="2399">
                <a:solidFill>
                  <a:srgbClr val="5B7ABE"/>
                </a:solidFill>
                <a:latin typeface="Red Hat Display"/>
                <a:ea typeface="Red Hat Display"/>
                <a:cs typeface="Red Hat Display"/>
                <a:sym typeface="Red Hat Display"/>
              </a:rPr>
              <a:t>Users rated network "Poor" without specifying why</a:t>
            </a:r>
          </a:p>
          <a:p>
            <a:pPr algn="l" marL="518157" indent="-259078" lvl="1">
              <a:lnSpc>
                <a:spcPts val="3359"/>
              </a:lnSpc>
              <a:buFont typeface="Arial"/>
              <a:buChar char="•"/>
            </a:pPr>
            <a:r>
              <a:rPr lang="en-US" sz="2399">
                <a:solidFill>
                  <a:srgbClr val="5B7ABE"/>
                </a:solidFill>
                <a:latin typeface="Red Hat Display"/>
                <a:ea typeface="Red Hat Display"/>
                <a:cs typeface="Red Hat Display"/>
                <a:sym typeface="Red Hat Display"/>
              </a:rPr>
              <a:t>Solution: Separated ratings into Internet Speed, Call Quality, Network Reli</a:t>
            </a:r>
            <a:r>
              <a:rPr lang="en-US" sz="2399">
                <a:solidFill>
                  <a:srgbClr val="5B7ABE"/>
                </a:solidFill>
                <a:latin typeface="Red Hat Display"/>
                <a:ea typeface="Red Hat Display"/>
                <a:cs typeface="Red Hat Display"/>
                <a:sym typeface="Red Hat Display"/>
              </a:rPr>
              <a:t>ability, and Video Streaming categories</a:t>
            </a:r>
          </a:p>
          <a:p>
            <a:pPr algn="l">
              <a:lnSpc>
                <a:spcPts val="3359"/>
              </a:lnSpc>
            </a:pPr>
          </a:p>
        </p:txBody>
      </p:sp>
      <p:sp>
        <p:nvSpPr>
          <p:cNvPr name="TextBox 15" id="15"/>
          <p:cNvSpPr txBox="true"/>
          <p:nvPr/>
        </p:nvSpPr>
        <p:spPr>
          <a:xfrm rot="0">
            <a:off x="8276149" y="6914034"/>
            <a:ext cx="7748151" cy="1402740"/>
          </a:xfrm>
          <a:prstGeom prst="rect">
            <a:avLst/>
          </a:prstGeom>
        </p:spPr>
        <p:txBody>
          <a:bodyPr anchor="t" rtlCol="false" tIns="0" lIns="0" bIns="0" rIns="0">
            <a:spAutoFit/>
          </a:bodyPr>
          <a:lstStyle/>
          <a:p>
            <a:pPr algn="l">
              <a:lnSpc>
                <a:spcPts val="3483"/>
              </a:lnSpc>
            </a:pPr>
            <a:r>
              <a:rPr lang="en-US" sz="2799" b="true">
                <a:solidFill>
                  <a:srgbClr val="2D2261"/>
                </a:solidFill>
                <a:latin typeface="Red Hat Display Bold"/>
                <a:ea typeface="Red Hat Display Bold"/>
                <a:cs typeface="Red Hat Display Bold"/>
                <a:sym typeface="Red Hat Display Bold"/>
              </a:rPr>
              <a:t>Ambiguity problems resolved:</a:t>
            </a:r>
          </a:p>
          <a:p>
            <a:pPr algn="l">
              <a:lnSpc>
                <a:spcPts val="3856"/>
              </a:lnSpc>
            </a:pPr>
          </a:p>
          <a:p>
            <a:pPr algn="l">
              <a:lnSpc>
                <a:spcPts val="3856"/>
              </a:lnSpc>
            </a:pPr>
          </a:p>
        </p:txBody>
      </p:sp>
      <p:sp>
        <p:nvSpPr>
          <p:cNvPr name="TextBox 16" id="16"/>
          <p:cNvSpPr txBox="true"/>
          <p:nvPr/>
        </p:nvSpPr>
        <p:spPr>
          <a:xfrm rot="0">
            <a:off x="6812008" y="6827777"/>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02</a:t>
            </a:r>
          </a:p>
        </p:txBody>
      </p:sp>
      <p:sp>
        <p:nvSpPr>
          <p:cNvPr name="TextBox 17" id="17"/>
          <p:cNvSpPr txBox="true"/>
          <p:nvPr/>
        </p:nvSpPr>
        <p:spPr>
          <a:xfrm rot="0">
            <a:off x="3667962" y="732990"/>
            <a:ext cx="9167567" cy="1544141"/>
          </a:xfrm>
          <a:prstGeom prst="rect">
            <a:avLst/>
          </a:prstGeom>
        </p:spPr>
        <p:txBody>
          <a:bodyPr anchor="t" rtlCol="false" tIns="0" lIns="0" bIns="0" rIns="0">
            <a:spAutoFit/>
          </a:bodyPr>
          <a:lstStyle/>
          <a:p>
            <a:pPr algn="l">
              <a:lnSpc>
                <a:spcPts val="5123"/>
              </a:lnSpc>
            </a:pPr>
            <a:r>
              <a:rPr lang="en-US" sz="4118" b="true">
                <a:solidFill>
                  <a:srgbClr val="2D2261"/>
                </a:solidFill>
                <a:latin typeface="Red Hat Display Bold"/>
                <a:ea typeface="Red Hat Display Bold"/>
                <a:cs typeface="Red Hat Display Bold"/>
                <a:sym typeface="Red Hat Display Bold"/>
              </a:rPr>
              <a:t> Inconsistencies We Found and Fixed</a:t>
            </a:r>
          </a:p>
          <a:p>
            <a:pPr algn="l">
              <a:lnSpc>
                <a:spcPts val="7113"/>
              </a:lnSpc>
            </a:pPr>
          </a:p>
        </p:txBody>
      </p:sp>
      <p:sp>
        <p:nvSpPr>
          <p:cNvPr name="Freeform 18" id="18"/>
          <p:cNvSpPr/>
          <p:nvPr/>
        </p:nvSpPr>
        <p:spPr>
          <a:xfrm flipH="false" flipV="false" rot="715246">
            <a:off x="12993540" y="-2095015"/>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226878">
            <a:off x="-1177872" y="229169"/>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1175026">
            <a:off x="16376299" y="7891685"/>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264475" y="952500"/>
            <a:ext cx="9759051" cy="1490158"/>
          </a:xfrm>
          <a:prstGeom prst="rect">
            <a:avLst/>
          </a:prstGeom>
        </p:spPr>
        <p:txBody>
          <a:bodyPr anchor="t" rtlCol="false" tIns="0" lIns="0" bIns="0" rIns="0">
            <a:spAutoFit/>
          </a:bodyPr>
          <a:lstStyle/>
          <a:p>
            <a:pPr algn="ctr">
              <a:lnSpc>
                <a:spcPts val="6065"/>
              </a:lnSpc>
            </a:pPr>
            <a:r>
              <a:rPr lang="en-US" sz="4332" b="true">
                <a:solidFill>
                  <a:srgbClr val="2D2261"/>
                </a:solidFill>
                <a:latin typeface="Red Hat Display Bold"/>
                <a:ea typeface="Red Hat Display Bold"/>
                <a:cs typeface="Red Hat Display Bold"/>
                <a:sym typeface="Red Hat Display Bold"/>
              </a:rPr>
              <a:t> Functional vs Non-Functional</a:t>
            </a:r>
          </a:p>
          <a:p>
            <a:pPr algn="ctr">
              <a:lnSpc>
                <a:spcPts val="6065"/>
              </a:lnSpc>
            </a:pPr>
          </a:p>
        </p:txBody>
      </p:sp>
      <p:grpSp>
        <p:nvGrpSpPr>
          <p:cNvPr name="Group 3" id="3"/>
          <p:cNvGrpSpPr/>
          <p:nvPr/>
        </p:nvGrpSpPr>
        <p:grpSpPr>
          <a:xfrm rot="0">
            <a:off x="1696212" y="4343085"/>
            <a:ext cx="6277478" cy="3697518"/>
            <a:chOff x="0" y="0"/>
            <a:chExt cx="1653328" cy="973832"/>
          </a:xfrm>
        </p:grpSpPr>
        <p:sp>
          <p:nvSpPr>
            <p:cNvPr name="Freeform 4" id="4"/>
            <p:cNvSpPr/>
            <p:nvPr/>
          </p:nvSpPr>
          <p:spPr>
            <a:xfrm flipH="false" flipV="false" rot="0">
              <a:off x="0" y="0"/>
              <a:ext cx="1653328" cy="973832"/>
            </a:xfrm>
            <a:custGeom>
              <a:avLst/>
              <a:gdLst/>
              <a:ahLst/>
              <a:cxnLst/>
              <a:rect r="r" b="b" t="t" l="l"/>
              <a:pathLst>
                <a:path h="973832" w="1653328">
                  <a:moveTo>
                    <a:pt x="36999" y="0"/>
                  </a:moveTo>
                  <a:lnTo>
                    <a:pt x="1616329" y="0"/>
                  </a:lnTo>
                  <a:cubicBezTo>
                    <a:pt x="1626142" y="0"/>
                    <a:pt x="1635552" y="3898"/>
                    <a:pt x="1642491" y="10837"/>
                  </a:cubicBezTo>
                  <a:cubicBezTo>
                    <a:pt x="1649430" y="17775"/>
                    <a:pt x="1653328" y="27186"/>
                    <a:pt x="1653328" y="36999"/>
                  </a:cubicBezTo>
                  <a:lnTo>
                    <a:pt x="1653328" y="936833"/>
                  </a:lnTo>
                  <a:cubicBezTo>
                    <a:pt x="1653328" y="946646"/>
                    <a:pt x="1649430" y="956057"/>
                    <a:pt x="1642491" y="962995"/>
                  </a:cubicBezTo>
                  <a:cubicBezTo>
                    <a:pt x="1635552" y="969934"/>
                    <a:pt x="1626142" y="973832"/>
                    <a:pt x="1616329" y="973832"/>
                  </a:cubicBezTo>
                  <a:lnTo>
                    <a:pt x="36999" y="973832"/>
                  </a:lnTo>
                  <a:cubicBezTo>
                    <a:pt x="27186" y="973832"/>
                    <a:pt x="17775" y="969934"/>
                    <a:pt x="10837" y="962995"/>
                  </a:cubicBezTo>
                  <a:cubicBezTo>
                    <a:pt x="3898" y="956057"/>
                    <a:pt x="0" y="946646"/>
                    <a:pt x="0" y="936833"/>
                  </a:cubicBezTo>
                  <a:lnTo>
                    <a:pt x="0" y="36999"/>
                  </a:lnTo>
                  <a:cubicBezTo>
                    <a:pt x="0" y="27186"/>
                    <a:pt x="3898" y="17775"/>
                    <a:pt x="10837" y="10837"/>
                  </a:cubicBezTo>
                  <a:cubicBezTo>
                    <a:pt x="17775" y="3898"/>
                    <a:pt x="27186" y="0"/>
                    <a:pt x="36999" y="0"/>
                  </a:cubicBezTo>
                  <a:close/>
                </a:path>
              </a:pathLst>
            </a:custGeom>
            <a:solidFill>
              <a:srgbClr val="ECE1D7"/>
            </a:solidFill>
          </p:spPr>
        </p:sp>
        <p:sp>
          <p:nvSpPr>
            <p:cNvPr name="TextBox 5" id="5"/>
            <p:cNvSpPr txBox="true"/>
            <p:nvPr/>
          </p:nvSpPr>
          <p:spPr>
            <a:xfrm>
              <a:off x="0" y="-47625"/>
              <a:ext cx="1653328" cy="1021457"/>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1713922" y="2889547"/>
            <a:ext cx="6277478" cy="1866815"/>
            <a:chOff x="0" y="0"/>
            <a:chExt cx="1653328" cy="491672"/>
          </a:xfrm>
        </p:grpSpPr>
        <p:sp>
          <p:nvSpPr>
            <p:cNvPr name="Freeform 7" id="7"/>
            <p:cNvSpPr/>
            <p:nvPr/>
          </p:nvSpPr>
          <p:spPr>
            <a:xfrm flipH="false" flipV="false" rot="0">
              <a:off x="0" y="0"/>
              <a:ext cx="1653328" cy="491672"/>
            </a:xfrm>
            <a:custGeom>
              <a:avLst/>
              <a:gdLst/>
              <a:ahLst/>
              <a:cxnLst/>
              <a:rect r="r" b="b" t="t" l="l"/>
              <a:pathLst>
                <a:path h="491672" w="1653328">
                  <a:moveTo>
                    <a:pt x="36999" y="0"/>
                  </a:moveTo>
                  <a:lnTo>
                    <a:pt x="1616329" y="0"/>
                  </a:lnTo>
                  <a:cubicBezTo>
                    <a:pt x="1626142" y="0"/>
                    <a:pt x="1635552" y="3898"/>
                    <a:pt x="1642491" y="10837"/>
                  </a:cubicBezTo>
                  <a:cubicBezTo>
                    <a:pt x="1649430" y="17775"/>
                    <a:pt x="1653328" y="27186"/>
                    <a:pt x="1653328" y="36999"/>
                  </a:cubicBezTo>
                  <a:lnTo>
                    <a:pt x="1653328" y="454673"/>
                  </a:lnTo>
                  <a:cubicBezTo>
                    <a:pt x="1653328" y="464486"/>
                    <a:pt x="1649430" y="473896"/>
                    <a:pt x="1642491" y="480835"/>
                  </a:cubicBezTo>
                  <a:cubicBezTo>
                    <a:pt x="1635552" y="487773"/>
                    <a:pt x="1626142" y="491672"/>
                    <a:pt x="1616329" y="491672"/>
                  </a:cubicBezTo>
                  <a:lnTo>
                    <a:pt x="36999" y="491672"/>
                  </a:lnTo>
                  <a:cubicBezTo>
                    <a:pt x="27186" y="491672"/>
                    <a:pt x="17775" y="487773"/>
                    <a:pt x="10837" y="480835"/>
                  </a:cubicBezTo>
                  <a:cubicBezTo>
                    <a:pt x="3898" y="473896"/>
                    <a:pt x="0" y="464486"/>
                    <a:pt x="0" y="454673"/>
                  </a:cubicBezTo>
                  <a:lnTo>
                    <a:pt x="0" y="36999"/>
                  </a:lnTo>
                  <a:cubicBezTo>
                    <a:pt x="0" y="27186"/>
                    <a:pt x="3898" y="17775"/>
                    <a:pt x="10837" y="10837"/>
                  </a:cubicBezTo>
                  <a:cubicBezTo>
                    <a:pt x="17775" y="3898"/>
                    <a:pt x="27186" y="0"/>
                    <a:pt x="36999" y="0"/>
                  </a:cubicBezTo>
                  <a:close/>
                </a:path>
              </a:pathLst>
            </a:custGeom>
            <a:solidFill>
              <a:srgbClr val="5B7ABE"/>
            </a:solidFill>
          </p:spPr>
        </p:sp>
        <p:sp>
          <p:nvSpPr>
            <p:cNvPr name="TextBox 8" id="8"/>
            <p:cNvSpPr txBox="true"/>
            <p:nvPr/>
          </p:nvSpPr>
          <p:spPr>
            <a:xfrm>
              <a:off x="0" y="-47625"/>
              <a:ext cx="1653328" cy="539297"/>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2102452" y="4867935"/>
            <a:ext cx="5500417" cy="3496945"/>
          </a:xfrm>
          <a:prstGeom prst="rect">
            <a:avLst/>
          </a:prstGeom>
        </p:spPr>
        <p:txBody>
          <a:bodyPr anchor="t" rtlCol="false" tIns="0" lIns="0" bIns="0" rIns="0">
            <a:spAutoFit/>
          </a:bodyPr>
          <a:lstStyle/>
          <a:p>
            <a:pPr algn="l" marL="474976" indent="-237488" lvl="1">
              <a:lnSpc>
                <a:spcPts val="3079"/>
              </a:lnSpc>
              <a:buFont typeface="Arial"/>
              <a:buChar char="•"/>
            </a:pPr>
            <a:r>
              <a:rPr lang="en-US" sz="2199">
                <a:solidFill>
                  <a:srgbClr val="2D2261"/>
                </a:solidFill>
                <a:latin typeface="Red Hat Display"/>
                <a:ea typeface="Red Hat Display"/>
                <a:cs typeface="Red Hat Display"/>
                <a:sym typeface="Red Hat Display"/>
              </a:rPr>
              <a:t>Collect user feedback on network performance</a:t>
            </a:r>
          </a:p>
          <a:p>
            <a:pPr algn="l" marL="474976" indent="-237488" lvl="1">
              <a:lnSpc>
                <a:spcPts val="3079"/>
              </a:lnSpc>
              <a:buFont typeface="Arial"/>
              <a:buChar char="•"/>
            </a:pPr>
            <a:r>
              <a:rPr lang="en-US" sz="2199">
                <a:solidFill>
                  <a:srgbClr val="2D2261"/>
                </a:solidFill>
                <a:latin typeface="Red Hat Display"/>
                <a:ea typeface="Red Hat Display"/>
                <a:cs typeface="Red Hat Display"/>
                <a:sym typeface="Red Hat Display"/>
              </a:rPr>
              <a:t>Monitor signal strength and internet quality</a:t>
            </a:r>
          </a:p>
          <a:p>
            <a:pPr algn="l" marL="474976" indent="-237488" lvl="1">
              <a:lnSpc>
                <a:spcPts val="3079"/>
              </a:lnSpc>
              <a:buFont typeface="Arial"/>
              <a:buChar char="•"/>
            </a:pPr>
            <a:r>
              <a:rPr lang="en-US" sz="2199">
                <a:solidFill>
                  <a:srgbClr val="2D2261"/>
                </a:solidFill>
                <a:latin typeface="Red Hat Display"/>
                <a:ea typeface="Red Hat Display"/>
                <a:cs typeface="Red Hat Display"/>
                <a:sym typeface="Red Hat Display"/>
              </a:rPr>
              <a:t>Store and synchronize collected data</a:t>
            </a:r>
          </a:p>
          <a:p>
            <a:pPr algn="l" marL="474976" indent="-237488" lvl="1">
              <a:lnSpc>
                <a:spcPts val="3079"/>
              </a:lnSpc>
              <a:buFont typeface="Arial"/>
              <a:buChar char="•"/>
            </a:pPr>
            <a:r>
              <a:rPr lang="en-US" sz="2199">
                <a:solidFill>
                  <a:srgbClr val="2D2261"/>
                </a:solidFill>
                <a:latin typeface="Red Hat Display"/>
                <a:ea typeface="Red Hat Display"/>
                <a:cs typeface="Red Hat Display"/>
                <a:sym typeface="Red Hat Display"/>
              </a:rPr>
              <a:t>Generate reports and QoE analytics</a:t>
            </a:r>
          </a:p>
          <a:p>
            <a:pPr algn="l" marL="474976" indent="-237488" lvl="1">
              <a:lnSpc>
                <a:spcPts val="3079"/>
              </a:lnSpc>
              <a:buFont typeface="Arial"/>
              <a:buChar char="•"/>
            </a:pPr>
            <a:r>
              <a:rPr lang="en-US" sz="2199">
                <a:solidFill>
                  <a:srgbClr val="2D2261"/>
                </a:solidFill>
                <a:latin typeface="Red Hat Display"/>
                <a:ea typeface="Red Hat Display"/>
                <a:cs typeface="Red Hat Display"/>
                <a:sym typeface="Red Hat Display"/>
              </a:rPr>
              <a:t>Support continuous background monitoring</a:t>
            </a:r>
          </a:p>
          <a:p>
            <a:pPr algn="l">
              <a:lnSpc>
                <a:spcPts val="3079"/>
              </a:lnSpc>
            </a:pPr>
          </a:p>
        </p:txBody>
      </p:sp>
      <p:grpSp>
        <p:nvGrpSpPr>
          <p:cNvPr name="Group 10" id="10"/>
          <p:cNvGrpSpPr/>
          <p:nvPr/>
        </p:nvGrpSpPr>
        <p:grpSpPr>
          <a:xfrm rot="0">
            <a:off x="8761546" y="4343085"/>
            <a:ext cx="6616021" cy="3697518"/>
            <a:chOff x="0" y="0"/>
            <a:chExt cx="1742491" cy="973832"/>
          </a:xfrm>
        </p:grpSpPr>
        <p:sp>
          <p:nvSpPr>
            <p:cNvPr name="Freeform 11" id="11"/>
            <p:cNvSpPr/>
            <p:nvPr/>
          </p:nvSpPr>
          <p:spPr>
            <a:xfrm flipH="false" flipV="false" rot="0">
              <a:off x="0" y="0"/>
              <a:ext cx="1742491" cy="973832"/>
            </a:xfrm>
            <a:custGeom>
              <a:avLst/>
              <a:gdLst/>
              <a:ahLst/>
              <a:cxnLst/>
              <a:rect r="r" b="b" t="t" l="l"/>
              <a:pathLst>
                <a:path h="973832" w="1742491">
                  <a:moveTo>
                    <a:pt x="35105" y="0"/>
                  </a:moveTo>
                  <a:lnTo>
                    <a:pt x="1707386" y="0"/>
                  </a:lnTo>
                  <a:cubicBezTo>
                    <a:pt x="1716696" y="0"/>
                    <a:pt x="1725625" y="3699"/>
                    <a:pt x="1732209" y="10282"/>
                  </a:cubicBezTo>
                  <a:cubicBezTo>
                    <a:pt x="1738793" y="16866"/>
                    <a:pt x="1742491" y="25795"/>
                    <a:pt x="1742491" y="35105"/>
                  </a:cubicBezTo>
                  <a:lnTo>
                    <a:pt x="1742491" y="938727"/>
                  </a:lnTo>
                  <a:cubicBezTo>
                    <a:pt x="1742491" y="948037"/>
                    <a:pt x="1738793" y="956966"/>
                    <a:pt x="1732209" y="963550"/>
                  </a:cubicBezTo>
                  <a:cubicBezTo>
                    <a:pt x="1725625" y="970133"/>
                    <a:pt x="1716696" y="973832"/>
                    <a:pt x="1707386" y="973832"/>
                  </a:cubicBezTo>
                  <a:lnTo>
                    <a:pt x="35105" y="973832"/>
                  </a:lnTo>
                  <a:cubicBezTo>
                    <a:pt x="25795" y="973832"/>
                    <a:pt x="16866" y="970133"/>
                    <a:pt x="10282" y="963550"/>
                  </a:cubicBezTo>
                  <a:cubicBezTo>
                    <a:pt x="3699" y="956966"/>
                    <a:pt x="0" y="948037"/>
                    <a:pt x="0" y="938727"/>
                  </a:cubicBezTo>
                  <a:lnTo>
                    <a:pt x="0" y="35105"/>
                  </a:lnTo>
                  <a:cubicBezTo>
                    <a:pt x="0" y="25795"/>
                    <a:pt x="3699" y="16866"/>
                    <a:pt x="10282" y="10282"/>
                  </a:cubicBezTo>
                  <a:cubicBezTo>
                    <a:pt x="16866" y="3699"/>
                    <a:pt x="25795" y="0"/>
                    <a:pt x="35105" y="0"/>
                  </a:cubicBezTo>
                  <a:close/>
                </a:path>
              </a:pathLst>
            </a:custGeom>
            <a:solidFill>
              <a:srgbClr val="ECE1D7"/>
            </a:solidFill>
          </p:spPr>
        </p:sp>
        <p:sp>
          <p:nvSpPr>
            <p:cNvPr name="TextBox 12" id="12"/>
            <p:cNvSpPr txBox="true"/>
            <p:nvPr/>
          </p:nvSpPr>
          <p:spPr>
            <a:xfrm>
              <a:off x="0" y="-47625"/>
              <a:ext cx="1742491" cy="1021457"/>
            </a:xfrm>
            <a:prstGeom prst="rect">
              <a:avLst/>
            </a:prstGeom>
          </p:spPr>
          <p:txBody>
            <a:bodyPr anchor="ctr" rtlCol="false" tIns="50800" lIns="50800" bIns="50800" rIns="50800"/>
            <a:lstStyle/>
            <a:p>
              <a:pPr algn="ctr">
                <a:lnSpc>
                  <a:spcPts val="3032"/>
                </a:lnSpc>
              </a:pPr>
            </a:p>
          </p:txBody>
        </p:sp>
      </p:grpSp>
      <p:grpSp>
        <p:nvGrpSpPr>
          <p:cNvPr name="Group 13" id="13"/>
          <p:cNvGrpSpPr/>
          <p:nvPr/>
        </p:nvGrpSpPr>
        <p:grpSpPr>
          <a:xfrm rot="0">
            <a:off x="8761546" y="2842087"/>
            <a:ext cx="6652916" cy="1866815"/>
            <a:chOff x="0" y="0"/>
            <a:chExt cx="1752208" cy="491672"/>
          </a:xfrm>
        </p:grpSpPr>
        <p:sp>
          <p:nvSpPr>
            <p:cNvPr name="Freeform 14" id="14"/>
            <p:cNvSpPr/>
            <p:nvPr/>
          </p:nvSpPr>
          <p:spPr>
            <a:xfrm flipH="false" flipV="false" rot="0">
              <a:off x="0" y="0"/>
              <a:ext cx="1752208" cy="491672"/>
            </a:xfrm>
            <a:custGeom>
              <a:avLst/>
              <a:gdLst/>
              <a:ahLst/>
              <a:cxnLst/>
              <a:rect r="r" b="b" t="t" l="l"/>
              <a:pathLst>
                <a:path h="491672" w="1752208">
                  <a:moveTo>
                    <a:pt x="34911" y="0"/>
                  </a:moveTo>
                  <a:lnTo>
                    <a:pt x="1717298" y="0"/>
                  </a:lnTo>
                  <a:cubicBezTo>
                    <a:pt x="1726557" y="0"/>
                    <a:pt x="1735436" y="3678"/>
                    <a:pt x="1741983" y="10225"/>
                  </a:cubicBezTo>
                  <a:cubicBezTo>
                    <a:pt x="1748530" y="16772"/>
                    <a:pt x="1752208" y="25652"/>
                    <a:pt x="1752208" y="34911"/>
                  </a:cubicBezTo>
                  <a:lnTo>
                    <a:pt x="1752208" y="456761"/>
                  </a:lnTo>
                  <a:cubicBezTo>
                    <a:pt x="1752208" y="476042"/>
                    <a:pt x="1736578" y="491672"/>
                    <a:pt x="1717298" y="491672"/>
                  </a:cubicBezTo>
                  <a:lnTo>
                    <a:pt x="34911" y="491672"/>
                  </a:lnTo>
                  <a:cubicBezTo>
                    <a:pt x="25652" y="491672"/>
                    <a:pt x="16772" y="487993"/>
                    <a:pt x="10225" y="481446"/>
                  </a:cubicBezTo>
                  <a:cubicBezTo>
                    <a:pt x="3678" y="474899"/>
                    <a:pt x="0" y="466020"/>
                    <a:pt x="0" y="456761"/>
                  </a:cubicBezTo>
                  <a:lnTo>
                    <a:pt x="0" y="34911"/>
                  </a:lnTo>
                  <a:cubicBezTo>
                    <a:pt x="0" y="25652"/>
                    <a:pt x="3678" y="16772"/>
                    <a:pt x="10225" y="10225"/>
                  </a:cubicBezTo>
                  <a:cubicBezTo>
                    <a:pt x="16772" y="3678"/>
                    <a:pt x="25652" y="0"/>
                    <a:pt x="34911" y="0"/>
                  </a:cubicBezTo>
                  <a:close/>
                </a:path>
              </a:pathLst>
            </a:custGeom>
            <a:solidFill>
              <a:srgbClr val="5B7ABE"/>
            </a:solidFill>
          </p:spPr>
        </p:sp>
        <p:sp>
          <p:nvSpPr>
            <p:cNvPr name="TextBox 15" id="15"/>
            <p:cNvSpPr txBox="true"/>
            <p:nvPr/>
          </p:nvSpPr>
          <p:spPr>
            <a:xfrm>
              <a:off x="0" y="-47625"/>
              <a:ext cx="1752208" cy="539297"/>
            </a:xfrm>
            <a:prstGeom prst="rect">
              <a:avLst/>
            </a:prstGeom>
          </p:spPr>
          <p:txBody>
            <a:bodyPr anchor="ctr" rtlCol="false" tIns="50800" lIns="50800" bIns="50800" rIns="50800"/>
            <a:lstStyle/>
            <a:p>
              <a:pPr algn="ctr">
                <a:lnSpc>
                  <a:spcPts val="3032"/>
                </a:lnSpc>
              </a:pPr>
            </a:p>
          </p:txBody>
        </p:sp>
      </p:grpSp>
      <p:sp>
        <p:nvSpPr>
          <p:cNvPr name="TextBox 16" id="16"/>
          <p:cNvSpPr txBox="true"/>
          <p:nvPr/>
        </p:nvSpPr>
        <p:spPr>
          <a:xfrm rot="0">
            <a:off x="9993929" y="3348774"/>
            <a:ext cx="4188149" cy="8153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NON-FUNCTONAL REQUIREMENT </a:t>
            </a:r>
          </a:p>
        </p:txBody>
      </p:sp>
      <p:sp>
        <p:nvSpPr>
          <p:cNvPr name="TextBox 17" id="17"/>
          <p:cNvSpPr txBox="true"/>
          <p:nvPr/>
        </p:nvSpPr>
        <p:spPr>
          <a:xfrm rot="0">
            <a:off x="9205824" y="4867935"/>
            <a:ext cx="5814388" cy="2956560"/>
          </a:xfrm>
          <a:prstGeom prst="rect">
            <a:avLst/>
          </a:prstGeom>
        </p:spPr>
        <p:txBody>
          <a:bodyPr anchor="t" rtlCol="false" tIns="0" lIns="0" bIns="0" rIns="0">
            <a:spAutoFit/>
          </a:bodyPr>
          <a:lstStyle/>
          <a:p>
            <a:pPr algn="l" marL="453387" indent="-226693" lvl="1">
              <a:lnSpc>
                <a:spcPts val="2939"/>
              </a:lnSpc>
              <a:buFont typeface="Arial"/>
              <a:buChar char="•"/>
            </a:pPr>
            <a:r>
              <a:rPr lang="en-US" sz="2099">
                <a:solidFill>
                  <a:srgbClr val="2D2261"/>
                </a:solidFill>
                <a:latin typeface="Red Hat Display"/>
                <a:ea typeface="Red Hat Display"/>
                <a:cs typeface="Red Hat Display"/>
                <a:sym typeface="Red Hat Display"/>
              </a:rPr>
              <a:t>Ensure low battery and data consumption</a:t>
            </a:r>
          </a:p>
          <a:p>
            <a:pPr algn="l" marL="453387" indent="-226693" lvl="1">
              <a:lnSpc>
                <a:spcPts val="2939"/>
              </a:lnSpc>
              <a:buFont typeface="Arial"/>
              <a:buChar char="•"/>
            </a:pPr>
            <a:r>
              <a:rPr lang="en-US" sz="2099">
                <a:solidFill>
                  <a:srgbClr val="2D2261"/>
                </a:solidFill>
                <a:latin typeface="Red Hat Display"/>
                <a:ea typeface="Red Hat Display"/>
                <a:cs typeface="Red Hat Display"/>
                <a:sym typeface="Red Hat Display"/>
              </a:rPr>
              <a:t>Protect user privacy and secure data transmission</a:t>
            </a:r>
          </a:p>
          <a:p>
            <a:pPr algn="l" marL="453387" indent="-226693" lvl="1">
              <a:lnSpc>
                <a:spcPts val="2939"/>
              </a:lnSpc>
              <a:buFont typeface="Arial"/>
              <a:buChar char="•"/>
            </a:pPr>
            <a:r>
              <a:rPr lang="en-US" sz="2099">
                <a:solidFill>
                  <a:srgbClr val="2D2261"/>
                </a:solidFill>
                <a:latin typeface="Red Hat Display"/>
                <a:ea typeface="Red Hat Display"/>
                <a:cs typeface="Red Hat Display"/>
                <a:sym typeface="Red Hat Display"/>
              </a:rPr>
              <a:t>Provide a simple and user-friendly interface</a:t>
            </a:r>
          </a:p>
          <a:p>
            <a:pPr algn="l" marL="453387" indent="-226693" lvl="1">
              <a:lnSpc>
                <a:spcPts val="2939"/>
              </a:lnSpc>
              <a:buFont typeface="Arial"/>
              <a:buChar char="•"/>
            </a:pPr>
            <a:r>
              <a:rPr lang="en-US" sz="2099">
                <a:solidFill>
                  <a:srgbClr val="2D2261"/>
                </a:solidFill>
                <a:latin typeface="Red Hat Display"/>
                <a:ea typeface="Red Hat Display"/>
                <a:cs typeface="Red Hat Display"/>
                <a:sym typeface="Red Hat Display"/>
              </a:rPr>
              <a:t>Maintain reliable and efficient system performance</a:t>
            </a:r>
          </a:p>
          <a:p>
            <a:pPr algn="l" marL="453387" indent="-226693" lvl="1">
              <a:lnSpc>
                <a:spcPts val="2939"/>
              </a:lnSpc>
              <a:buFont typeface="Arial"/>
              <a:buChar char="•"/>
            </a:pPr>
            <a:r>
              <a:rPr lang="en-US" sz="2099">
                <a:solidFill>
                  <a:srgbClr val="2D2261"/>
                </a:solidFill>
                <a:latin typeface="Red Hat Display"/>
                <a:ea typeface="Red Hat Display"/>
                <a:cs typeface="Red Hat Display"/>
                <a:sym typeface="Red Hat Display"/>
              </a:rPr>
              <a:t>Support compatibility across Android devices</a:t>
            </a:r>
          </a:p>
          <a:p>
            <a:pPr algn="l">
              <a:lnSpc>
                <a:spcPts val="2939"/>
              </a:lnSpc>
            </a:pPr>
          </a:p>
        </p:txBody>
      </p:sp>
      <p:sp>
        <p:nvSpPr>
          <p:cNvPr name="Freeform 18" id="18"/>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2" id="22"/>
          <p:cNvSpPr txBox="true"/>
          <p:nvPr/>
        </p:nvSpPr>
        <p:spPr>
          <a:xfrm rot="0">
            <a:off x="2740877" y="3428925"/>
            <a:ext cx="4188149" cy="8153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FUNCTONAL REQUIREMENT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264475" y="952500"/>
            <a:ext cx="9759051"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The SRS</a:t>
            </a:r>
          </a:p>
        </p:txBody>
      </p:sp>
      <p:grpSp>
        <p:nvGrpSpPr>
          <p:cNvPr name="Group 3" id="3"/>
          <p:cNvGrpSpPr/>
          <p:nvPr/>
        </p:nvGrpSpPr>
        <p:grpSpPr>
          <a:xfrm rot="0">
            <a:off x="1999848" y="2306947"/>
            <a:ext cx="14992489" cy="6951353"/>
            <a:chOff x="0" y="0"/>
            <a:chExt cx="3948639" cy="1830809"/>
          </a:xfrm>
        </p:grpSpPr>
        <p:sp>
          <p:nvSpPr>
            <p:cNvPr name="Freeform 4" id="4"/>
            <p:cNvSpPr/>
            <p:nvPr/>
          </p:nvSpPr>
          <p:spPr>
            <a:xfrm flipH="false" flipV="false" rot="0">
              <a:off x="0" y="0"/>
              <a:ext cx="3948639" cy="1830809"/>
            </a:xfrm>
            <a:custGeom>
              <a:avLst/>
              <a:gdLst/>
              <a:ahLst/>
              <a:cxnLst/>
              <a:rect r="r" b="b" t="t" l="l"/>
              <a:pathLst>
                <a:path h="1830809" w="3948639">
                  <a:moveTo>
                    <a:pt x="15492" y="0"/>
                  </a:moveTo>
                  <a:lnTo>
                    <a:pt x="3933147" y="0"/>
                  </a:lnTo>
                  <a:cubicBezTo>
                    <a:pt x="3941703" y="0"/>
                    <a:pt x="3948639" y="6936"/>
                    <a:pt x="3948639" y="15492"/>
                  </a:cubicBezTo>
                  <a:lnTo>
                    <a:pt x="3948639" y="1815317"/>
                  </a:lnTo>
                  <a:cubicBezTo>
                    <a:pt x="3948639" y="1819426"/>
                    <a:pt x="3947007" y="1823366"/>
                    <a:pt x="3944102" y="1826272"/>
                  </a:cubicBezTo>
                  <a:cubicBezTo>
                    <a:pt x="3941196" y="1829177"/>
                    <a:pt x="3937256" y="1830809"/>
                    <a:pt x="3933147" y="1830809"/>
                  </a:cubicBezTo>
                  <a:lnTo>
                    <a:pt x="15492" y="1830809"/>
                  </a:lnTo>
                  <a:cubicBezTo>
                    <a:pt x="6936" y="1830809"/>
                    <a:pt x="0" y="1823873"/>
                    <a:pt x="0" y="1815317"/>
                  </a:cubicBezTo>
                  <a:lnTo>
                    <a:pt x="0" y="15492"/>
                  </a:lnTo>
                  <a:cubicBezTo>
                    <a:pt x="0" y="6936"/>
                    <a:pt x="6936" y="0"/>
                    <a:pt x="15492" y="0"/>
                  </a:cubicBezTo>
                  <a:close/>
                </a:path>
              </a:pathLst>
            </a:custGeom>
            <a:solidFill>
              <a:srgbClr val="ECE1D7"/>
            </a:solidFill>
          </p:spPr>
        </p:sp>
        <p:sp>
          <p:nvSpPr>
            <p:cNvPr name="TextBox 5" id="5"/>
            <p:cNvSpPr txBox="true"/>
            <p:nvPr/>
          </p:nvSpPr>
          <p:spPr>
            <a:xfrm>
              <a:off x="0" y="-47625"/>
              <a:ext cx="3948639" cy="1878434"/>
            </a:xfrm>
            <a:prstGeom prst="rect">
              <a:avLst/>
            </a:prstGeom>
          </p:spPr>
          <p:txBody>
            <a:bodyPr anchor="ctr" rtlCol="false" tIns="50800" lIns="50800" bIns="50800" rIns="50800"/>
            <a:lstStyle/>
            <a:p>
              <a:pPr algn="ctr">
                <a:lnSpc>
                  <a:spcPts val="3032"/>
                </a:lnSpc>
              </a:pPr>
            </a:p>
          </p:txBody>
        </p:sp>
      </p:grpSp>
      <p:sp>
        <p:nvSpPr>
          <p:cNvPr name="TextBox 6" id="6"/>
          <p:cNvSpPr txBox="true"/>
          <p:nvPr/>
        </p:nvSpPr>
        <p:spPr>
          <a:xfrm rot="0">
            <a:off x="2239215" y="2631081"/>
            <a:ext cx="14260635" cy="6849111"/>
          </a:xfrm>
          <a:prstGeom prst="rect">
            <a:avLst/>
          </a:prstGeom>
        </p:spPr>
        <p:txBody>
          <a:bodyPr anchor="t" rtlCol="false" tIns="0" lIns="0" bIns="0" rIns="0">
            <a:spAutoFit/>
          </a:bodyPr>
          <a:lstStyle/>
          <a:p>
            <a:pPr algn="l" marL="561334" indent="-280667" lvl="1">
              <a:lnSpc>
                <a:spcPts val="3639"/>
              </a:lnSpc>
              <a:buFont typeface="Arial"/>
              <a:buChar char="•"/>
            </a:pPr>
            <a:r>
              <a:rPr lang="en-US" sz="2599">
                <a:solidFill>
                  <a:srgbClr val="2D2261"/>
                </a:solidFill>
                <a:latin typeface="Red Hat Display"/>
                <a:ea typeface="Red Hat Display"/>
                <a:cs typeface="Red Hat Display"/>
                <a:sym typeface="Red Hat Display"/>
              </a:rPr>
              <a:t>The system is a native Android application that combines passive network monitoring with active user feedback to generate real QoE (Quality of Experience) insights. It is designed to continuously collect both technical network metrics and user-perceived performance data for better analysis of mobile network quality.</a:t>
            </a:r>
          </a:p>
          <a:p>
            <a:pPr algn="l" marL="561334" indent="-280667" lvl="1">
              <a:lnSpc>
                <a:spcPts val="3639"/>
              </a:lnSpc>
              <a:buFont typeface="Arial"/>
              <a:buChar char="•"/>
            </a:pPr>
            <a:r>
              <a:rPr lang="en-US" sz="2599">
                <a:solidFill>
                  <a:srgbClr val="2D2261"/>
                </a:solidFill>
                <a:latin typeface="Red Hat Display"/>
                <a:ea typeface="Red Hat Display"/>
                <a:cs typeface="Red Hat Display"/>
                <a:sym typeface="Red Hat Display"/>
              </a:rPr>
              <a:t>The system collects multiple types </a:t>
            </a:r>
            <a:r>
              <a:rPr lang="en-US" sz="2599">
                <a:solidFill>
                  <a:srgbClr val="2D2261"/>
                </a:solidFill>
                <a:latin typeface="Red Hat Display"/>
                <a:ea typeface="Red Hat Display"/>
                <a:cs typeface="Red Hat Display"/>
                <a:sym typeface="Red Hat Display"/>
              </a:rPr>
              <a:t>of input data including star ratings, signal strength (dBm), network type, latency (ms), GPS location, timestamp, device model, and OS version. These inputs come from both user interaction and automatic device sensing.</a:t>
            </a:r>
          </a:p>
          <a:p>
            <a:pPr algn="l" marL="561334" indent="-280667" lvl="1">
              <a:lnSpc>
                <a:spcPts val="3639"/>
              </a:lnSpc>
              <a:buFont typeface="Arial"/>
              <a:buChar char="•"/>
            </a:pPr>
            <a:r>
              <a:rPr lang="en-US" sz="2599">
                <a:solidFill>
                  <a:srgbClr val="2D2261"/>
                </a:solidFill>
                <a:latin typeface="Red Hat Display"/>
                <a:ea typeface="Red Hat Display"/>
                <a:cs typeface="Red Hat Display"/>
                <a:sym typeface="Red Hat Display"/>
              </a:rPr>
              <a:t>From this collected data, the system produces meaningful outputs such as QoE reports, trend charts, network quality heatmaps, and operator dashboards that help visualize and analyze network performance over time.</a:t>
            </a:r>
          </a:p>
          <a:p>
            <a:pPr algn="l" marL="561334" indent="-280667" lvl="1">
              <a:lnSpc>
                <a:spcPts val="3639"/>
              </a:lnSpc>
              <a:buFont typeface="Arial"/>
              <a:buChar char="•"/>
            </a:pPr>
            <a:r>
              <a:rPr lang="en-US" sz="2599">
                <a:solidFill>
                  <a:srgbClr val="2D2261"/>
                </a:solidFill>
                <a:latin typeface="Red Hat Display"/>
                <a:ea typeface="Red Hat Display"/>
                <a:cs typeface="Red Hat Display"/>
                <a:sym typeface="Red Hat Display"/>
              </a:rPr>
              <a:t>The system is structured into five core modules: User Interface Module (dashboard, prompts, settings), Network Monitoring Module (Android APIs), Data Collection Module (passive + active), Database Module (Room + Supabase sync), and Reporting &amp; Analytics Module (charts, exports).</a:t>
            </a:r>
          </a:p>
          <a:p>
            <a:pPr algn="l">
              <a:lnSpc>
                <a:spcPts val="3639"/>
              </a:lnSpc>
            </a:pPr>
          </a:p>
        </p:txBody>
      </p:sp>
      <p:sp>
        <p:nvSpPr>
          <p:cNvPr name="Freeform 7" id="7"/>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264475" y="952500"/>
            <a:ext cx="9759051"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Validation with Stakeholders</a:t>
            </a:r>
          </a:p>
        </p:txBody>
      </p:sp>
      <p:grpSp>
        <p:nvGrpSpPr>
          <p:cNvPr name="Group 3" id="3"/>
          <p:cNvGrpSpPr/>
          <p:nvPr/>
        </p:nvGrpSpPr>
        <p:grpSpPr>
          <a:xfrm rot="0">
            <a:off x="1999848" y="2306947"/>
            <a:ext cx="14992489" cy="6951353"/>
            <a:chOff x="0" y="0"/>
            <a:chExt cx="3948639" cy="1830809"/>
          </a:xfrm>
        </p:grpSpPr>
        <p:sp>
          <p:nvSpPr>
            <p:cNvPr name="Freeform 4" id="4"/>
            <p:cNvSpPr/>
            <p:nvPr/>
          </p:nvSpPr>
          <p:spPr>
            <a:xfrm flipH="false" flipV="false" rot="0">
              <a:off x="0" y="0"/>
              <a:ext cx="3948639" cy="1830809"/>
            </a:xfrm>
            <a:custGeom>
              <a:avLst/>
              <a:gdLst/>
              <a:ahLst/>
              <a:cxnLst/>
              <a:rect r="r" b="b" t="t" l="l"/>
              <a:pathLst>
                <a:path h="1830809" w="3948639">
                  <a:moveTo>
                    <a:pt x="15492" y="0"/>
                  </a:moveTo>
                  <a:lnTo>
                    <a:pt x="3933147" y="0"/>
                  </a:lnTo>
                  <a:cubicBezTo>
                    <a:pt x="3941703" y="0"/>
                    <a:pt x="3948639" y="6936"/>
                    <a:pt x="3948639" y="15492"/>
                  </a:cubicBezTo>
                  <a:lnTo>
                    <a:pt x="3948639" y="1815317"/>
                  </a:lnTo>
                  <a:cubicBezTo>
                    <a:pt x="3948639" y="1819426"/>
                    <a:pt x="3947007" y="1823366"/>
                    <a:pt x="3944102" y="1826272"/>
                  </a:cubicBezTo>
                  <a:cubicBezTo>
                    <a:pt x="3941196" y="1829177"/>
                    <a:pt x="3937256" y="1830809"/>
                    <a:pt x="3933147" y="1830809"/>
                  </a:cubicBezTo>
                  <a:lnTo>
                    <a:pt x="15492" y="1830809"/>
                  </a:lnTo>
                  <a:cubicBezTo>
                    <a:pt x="6936" y="1830809"/>
                    <a:pt x="0" y="1823873"/>
                    <a:pt x="0" y="1815317"/>
                  </a:cubicBezTo>
                  <a:lnTo>
                    <a:pt x="0" y="15492"/>
                  </a:lnTo>
                  <a:cubicBezTo>
                    <a:pt x="0" y="6936"/>
                    <a:pt x="6936" y="0"/>
                    <a:pt x="15492" y="0"/>
                  </a:cubicBezTo>
                  <a:close/>
                </a:path>
              </a:pathLst>
            </a:custGeom>
            <a:solidFill>
              <a:srgbClr val="527DBF"/>
            </a:solidFill>
          </p:spPr>
        </p:sp>
        <p:sp>
          <p:nvSpPr>
            <p:cNvPr name="TextBox 5" id="5"/>
            <p:cNvSpPr txBox="true"/>
            <p:nvPr/>
          </p:nvSpPr>
          <p:spPr>
            <a:xfrm>
              <a:off x="0" y="-47625"/>
              <a:ext cx="3948639" cy="1878434"/>
            </a:xfrm>
            <a:prstGeom prst="rect">
              <a:avLst/>
            </a:prstGeom>
          </p:spPr>
          <p:txBody>
            <a:bodyPr anchor="ctr" rtlCol="false" tIns="50800" lIns="50800" bIns="50800" rIns="50800"/>
            <a:lstStyle/>
            <a:p>
              <a:pPr algn="ctr">
                <a:lnSpc>
                  <a:spcPts val="3032"/>
                </a:lnSpc>
              </a:pPr>
            </a:p>
          </p:txBody>
        </p:sp>
      </p:grpSp>
      <p:sp>
        <p:nvSpPr>
          <p:cNvPr name="TextBox 6" id="6"/>
          <p:cNvSpPr txBox="true"/>
          <p:nvPr/>
        </p:nvSpPr>
        <p:spPr>
          <a:xfrm rot="0">
            <a:off x="2239215" y="2631081"/>
            <a:ext cx="14260635" cy="5477511"/>
          </a:xfrm>
          <a:prstGeom prst="rect">
            <a:avLst/>
          </a:prstGeom>
        </p:spPr>
        <p:txBody>
          <a:bodyPr anchor="t" rtlCol="false" tIns="0" lIns="0" bIns="0" rIns="0">
            <a:spAutoFit/>
          </a:bodyPr>
          <a:lstStyle/>
          <a:p>
            <a:pPr algn="l" marL="561334" indent="-280667" lvl="1">
              <a:lnSpc>
                <a:spcPts val="3639"/>
              </a:lnSpc>
              <a:buFont typeface="Arial"/>
              <a:buChar char="•"/>
            </a:pPr>
            <a:r>
              <a:rPr lang="en-US" sz="2599">
                <a:solidFill>
                  <a:srgbClr val="FFFFFF"/>
                </a:solidFill>
                <a:latin typeface="Red Hat Display"/>
                <a:ea typeface="Red Hat Display"/>
                <a:cs typeface="Red Hat Display"/>
                <a:sym typeface="Red Hat Display"/>
              </a:rPr>
              <a:t>The refined requirements were validated by taking them back to the key stakeholders to ensure accuracy, feasibility, and trust.</a:t>
            </a:r>
          </a:p>
          <a:p>
            <a:pPr algn="l" marL="561334" indent="-280667" lvl="1">
              <a:lnSpc>
                <a:spcPts val="3639"/>
              </a:lnSpc>
              <a:buFont typeface="Arial"/>
              <a:buChar char="•"/>
            </a:pPr>
            <a:r>
              <a:rPr lang="en-US" sz="2599">
                <a:solidFill>
                  <a:srgbClr val="FFFFFF"/>
                </a:solidFill>
                <a:latin typeface="Red Hat Display"/>
                <a:ea typeface="Red Hat Display"/>
                <a:cs typeface="Red Hat Display"/>
                <a:sym typeface="Red Hat Display"/>
              </a:rPr>
              <a:t>Survey respondents confirmed that the proposed features directly address real user frustrations such as slow internet connections and frequent call drops.</a:t>
            </a:r>
          </a:p>
          <a:p>
            <a:pPr algn="l" marL="561334" indent="-280667" lvl="1">
              <a:lnSpc>
                <a:spcPts val="3639"/>
              </a:lnSpc>
              <a:buFont typeface="Arial"/>
              <a:buChar char="•"/>
            </a:pPr>
            <a:r>
              <a:rPr lang="en-US" sz="2599">
                <a:solidFill>
                  <a:srgbClr val="FFFFFF"/>
                </a:solidFill>
                <a:latin typeface="Red Hat Display"/>
                <a:ea typeface="Red Hat Display"/>
                <a:cs typeface="Red Hat Display"/>
                <a:sym typeface="Red Hat Display"/>
              </a:rPr>
              <a:t>A developer review confirmed that t</a:t>
            </a:r>
            <a:r>
              <a:rPr lang="en-US" sz="2599">
                <a:solidFill>
                  <a:srgbClr val="FFFFFF"/>
                </a:solidFill>
                <a:latin typeface="Red Hat Display"/>
                <a:ea typeface="Red Hat Display"/>
                <a:cs typeface="Red Hat Display"/>
                <a:sym typeface="Red Hat Display"/>
              </a:rPr>
              <a:t>he system is technically feasible, with Andr</a:t>
            </a:r>
            <a:r>
              <a:rPr lang="en-US" sz="2599">
                <a:solidFill>
                  <a:srgbClr val="FFFFFF"/>
                </a:solidFill>
                <a:latin typeface="Red Hat Display"/>
                <a:ea typeface="Red Hat Display"/>
                <a:cs typeface="Red Hat Display"/>
                <a:sym typeface="Red Hat Display"/>
              </a:rPr>
              <a:t>oid APIs and cloud databases being suitable for implementation.</a:t>
            </a:r>
          </a:p>
          <a:p>
            <a:pPr algn="l" marL="561334" indent="-280667" lvl="1">
              <a:lnSpc>
                <a:spcPts val="3639"/>
              </a:lnSpc>
              <a:buFont typeface="Arial"/>
              <a:buChar char="•"/>
            </a:pPr>
            <a:r>
              <a:rPr lang="en-US" sz="2599">
                <a:solidFill>
                  <a:srgbClr val="FFFFFF"/>
                </a:solidFill>
                <a:latin typeface="Red Hat Display"/>
                <a:ea typeface="Red Hat Display"/>
                <a:cs typeface="Red Hat Display"/>
                <a:sym typeface="Red Hat Display"/>
              </a:rPr>
              <a:t>A privacy check was conducted and passed successfully, ensuring user trust is preserved through the use of anonymous IDs and opt-in location sharing.</a:t>
            </a:r>
          </a:p>
          <a:p>
            <a:pPr algn="l" marL="561334" indent="-280667" lvl="1">
              <a:lnSpc>
                <a:spcPts val="3639"/>
              </a:lnSpc>
              <a:buFont typeface="Arial"/>
              <a:buChar char="•"/>
            </a:pPr>
            <a:r>
              <a:rPr lang="en-US" sz="2599">
                <a:solidFill>
                  <a:srgbClr val="FFFFFF"/>
                </a:solidFill>
                <a:latin typeface="Red Hat Display"/>
                <a:ea typeface="Red Hat Display"/>
                <a:cs typeface="Red Hat Display"/>
                <a:sym typeface="Red Hat Display"/>
              </a:rPr>
              <a:t>Network operators also validated the system, confirming that the collected data (signal strength, latency, ratings, and location) matches exactly what they need for network performance analysis.</a:t>
            </a:r>
          </a:p>
          <a:p>
            <a:pPr algn="l">
              <a:lnSpc>
                <a:spcPts val="3639"/>
              </a:lnSpc>
            </a:pPr>
          </a:p>
        </p:txBody>
      </p:sp>
      <p:sp>
        <p:nvSpPr>
          <p:cNvPr name="Freeform 7" id="7"/>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4264475" y="952500"/>
            <a:ext cx="9759051" cy="1490158"/>
          </a:xfrm>
          <a:prstGeom prst="rect">
            <a:avLst/>
          </a:prstGeom>
        </p:spPr>
        <p:txBody>
          <a:bodyPr anchor="t" rtlCol="false" tIns="0" lIns="0" bIns="0" rIns="0">
            <a:spAutoFit/>
          </a:bodyPr>
          <a:lstStyle/>
          <a:p>
            <a:pPr algn="ctr">
              <a:lnSpc>
                <a:spcPts val="6065"/>
              </a:lnSpc>
            </a:pPr>
            <a:r>
              <a:rPr lang="en-US" sz="4332" b="true">
                <a:solidFill>
                  <a:srgbClr val="2D2261"/>
                </a:solidFill>
                <a:latin typeface="Red Hat Display Bold"/>
                <a:ea typeface="Red Hat Display Bold"/>
                <a:cs typeface="Red Hat Display Bold"/>
                <a:sym typeface="Red Hat Display Bold"/>
              </a:rPr>
              <a:t>CONCLUSION</a:t>
            </a:r>
          </a:p>
          <a:p>
            <a:pPr algn="ctr">
              <a:lnSpc>
                <a:spcPts val="6065"/>
              </a:lnSpc>
            </a:pPr>
          </a:p>
        </p:txBody>
      </p:sp>
      <p:grpSp>
        <p:nvGrpSpPr>
          <p:cNvPr name="Group 3" id="3"/>
          <p:cNvGrpSpPr/>
          <p:nvPr/>
        </p:nvGrpSpPr>
        <p:grpSpPr>
          <a:xfrm rot="0">
            <a:off x="1999848" y="2306947"/>
            <a:ext cx="14992489" cy="6951353"/>
            <a:chOff x="0" y="0"/>
            <a:chExt cx="3948639" cy="1830809"/>
          </a:xfrm>
        </p:grpSpPr>
        <p:sp>
          <p:nvSpPr>
            <p:cNvPr name="Freeform 4" id="4"/>
            <p:cNvSpPr/>
            <p:nvPr/>
          </p:nvSpPr>
          <p:spPr>
            <a:xfrm flipH="false" flipV="false" rot="0">
              <a:off x="0" y="0"/>
              <a:ext cx="3948639" cy="1830809"/>
            </a:xfrm>
            <a:custGeom>
              <a:avLst/>
              <a:gdLst/>
              <a:ahLst/>
              <a:cxnLst/>
              <a:rect r="r" b="b" t="t" l="l"/>
              <a:pathLst>
                <a:path h="1830809" w="3948639">
                  <a:moveTo>
                    <a:pt x="15492" y="0"/>
                  </a:moveTo>
                  <a:lnTo>
                    <a:pt x="3933147" y="0"/>
                  </a:lnTo>
                  <a:cubicBezTo>
                    <a:pt x="3941703" y="0"/>
                    <a:pt x="3948639" y="6936"/>
                    <a:pt x="3948639" y="15492"/>
                  </a:cubicBezTo>
                  <a:lnTo>
                    <a:pt x="3948639" y="1815317"/>
                  </a:lnTo>
                  <a:cubicBezTo>
                    <a:pt x="3948639" y="1819426"/>
                    <a:pt x="3947007" y="1823366"/>
                    <a:pt x="3944102" y="1826272"/>
                  </a:cubicBezTo>
                  <a:cubicBezTo>
                    <a:pt x="3941196" y="1829177"/>
                    <a:pt x="3937256" y="1830809"/>
                    <a:pt x="3933147" y="1830809"/>
                  </a:cubicBezTo>
                  <a:lnTo>
                    <a:pt x="15492" y="1830809"/>
                  </a:lnTo>
                  <a:cubicBezTo>
                    <a:pt x="6936" y="1830809"/>
                    <a:pt x="0" y="1823873"/>
                    <a:pt x="0" y="1815317"/>
                  </a:cubicBezTo>
                  <a:lnTo>
                    <a:pt x="0" y="15492"/>
                  </a:lnTo>
                  <a:cubicBezTo>
                    <a:pt x="0" y="6936"/>
                    <a:pt x="6936" y="0"/>
                    <a:pt x="15492" y="0"/>
                  </a:cubicBezTo>
                  <a:close/>
                </a:path>
              </a:pathLst>
            </a:custGeom>
            <a:gradFill rotWithShape="true">
              <a:gsLst>
                <a:gs pos="0">
                  <a:srgbClr val="5DE0E6">
                    <a:alpha val="100000"/>
                  </a:srgbClr>
                </a:gs>
                <a:gs pos="100000">
                  <a:srgbClr val="004AAD">
                    <a:alpha val="100000"/>
                  </a:srgbClr>
                </a:gs>
              </a:gsLst>
              <a:lin ang="0"/>
            </a:gradFill>
          </p:spPr>
        </p:sp>
        <p:sp>
          <p:nvSpPr>
            <p:cNvPr name="TextBox 5" id="5"/>
            <p:cNvSpPr txBox="true"/>
            <p:nvPr/>
          </p:nvSpPr>
          <p:spPr>
            <a:xfrm>
              <a:off x="0" y="-47625"/>
              <a:ext cx="3948639" cy="1878434"/>
            </a:xfrm>
            <a:prstGeom prst="rect">
              <a:avLst/>
            </a:prstGeom>
          </p:spPr>
          <p:txBody>
            <a:bodyPr anchor="ctr" rtlCol="false" tIns="50800" lIns="50800" bIns="50800" rIns="50800"/>
            <a:lstStyle/>
            <a:p>
              <a:pPr algn="ctr">
                <a:lnSpc>
                  <a:spcPts val="3032"/>
                </a:lnSpc>
              </a:pPr>
            </a:p>
          </p:txBody>
        </p:sp>
      </p:grpSp>
      <p:sp>
        <p:nvSpPr>
          <p:cNvPr name="TextBox 6" id="6"/>
          <p:cNvSpPr txBox="true"/>
          <p:nvPr/>
        </p:nvSpPr>
        <p:spPr>
          <a:xfrm rot="0">
            <a:off x="2239215" y="2631081"/>
            <a:ext cx="14260635" cy="7415531"/>
          </a:xfrm>
          <a:prstGeom prst="rect">
            <a:avLst/>
          </a:prstGeom>
        </p:spPr>
        <p:txBody>
          <a:bodyPr anchor="t" rtlCol="false" tIns="0" lIns="0" bIns="0" rIns="0">
            <a:spAutoFit/>
          </a:bodyPr>
          <a:lstStyle/>
          <a:p>
            <a:pPr algn="just">
              <a:lnSpc>
                <a:spcPts val="3919"/>
              </a:lnSpc>
            </a:pPr>
            <a:r>
              <a:rPr lang="en-US" sz="2799">
                <a:solidFill>
                  <a:srgbClr val="FFFFFF"/>
                </a:solidFill>
                <a:latin typeface="Red Hat Display"/>
                <a:ea typeface="Red Hat Display"/>
                <a:cs typeface="Red Hat Display"/>
                <a:sym typeface="Red Hat Display"/>
              </a:rPr>
              <a:t>he project transformed raw and unstructured requirement data into a clear, structured, and validated Software Requirements Specification (SRS).</a:t>
            </a:r>
          </a:p>
          <a:p>
            <a:pPr algn="just">
              <a:lnSpc>
                <a:spcPts val="3919"/>
              </a:lnSpc>
            </a:pPr>
          </a:p>
          <a:p>
            <a:pPr algn="just">
              <a:lnSpc>
                <a:spcPts val="3919"/>
              </a:lnSpc>
            </a:pPr>
            <a:r>
              <a:rPr lang="en-US" sz="2799">
                <a:solidFill>
                  <a:srgbClr val="FFFFFF"/>
                </a:solidFill>
                <a:latin typeface="Red Hat Display"/>
                <a:ea typeface="Red Hat Display"/>
                <a:cs typeface="Red Hat Display"/>
                <a:sym typeface="Red Hat Display"/>
              </a:rPr>
              <a:t>Key improvements included fixing inconsistencies such as spelling errors and unclear ratings, as well as addressing missing features like authentication, offline mode, and error handling. The system’s technical feasibility </a:t>
            </a:r>
            <a:r>
              <a:rPr lang="en-US" sz="2799">
                <a:solidFill>
                  <a:srgbClr val="FFFFFF"/>
                </a:solidFill>
                <a:latin typeface="Red Hat Display"/>
                <a:ea typeface="Red Hat Display"/>
                <a:cs typeface="Red Hat Display"/>
                <a:sym typeface="Red Hat Display"/>
              </a:rPr>
              <a:t>was also confirmed.</a:t>
            </a:r>
          </a:p>
          <a:p>
            <a:pPr algn="just">
              <a:lnSpc>
                <a:spcPts val="3919"/>
              </a:lnSpc>
            </a:pPr>
          </a:p>
          <a:p>
            <a:pPr algn="just">
              <a:lnSpc>
                <a:spcPts val="3919"/>
              </a:lnSpc>
            </a:pPr>
            <a:r>
              <a:rPr lang="en-US" sz="2799">
                <a:solidFill>
                  <a:srgbClr val="FFFFFF"/>
                </a:solidFill>
                <a:latin typeface="Red Hat Display"/>
                <a:ea typeface="Red Hat Display"/>
                <a:cs typeface="Red Hat Display"/>
                <a:sym typeface="Red Hat Display"/>
              </a:rPr>
              <a:t>Requirements were pri</a:t>
            </a:r>
            <a:r>
              <a:rPr lang="en-US" sz="2799">
                <a:solidFill>
                  <a:srgbClr val="FFFFFF"/>
                </a:solidFill>
                <a:latin typeface="Red Hat Display"/>
                <a:ea typeface="Red Hat Display"/>
                <a:cs typeface="Red Hat Display"/>
                <a:sym typeface="Red Hat Display"/>
              </a:rPr>
              <a:t>oritized by defining high-priority features as the MVP, while medium and low-priority features were reserved for future versions.</a:t>
            </a:r>
          </a:p>
          <a:p>
            <a:pPr algn="just">
              <a:lnSpc>
                <a:spcPts val="3919"/>
              </a:lnSpc>
            </a:pPr>
          </a:p>
          <a:p>
            <a:pPr algn="just">
              <a:lnSpc>
                <a:spcPts val="3919"/>
              </a:lnSpc>
            </a:pPr>
            <a:r>
              <a:rPr lang="en-US" sz="2799">
                <a:solidFill>
                  <a:srgbClr val="FFFFFF"/>
                </a:solidFill>
                <a:latin typeface="Red Hat Display"/>
                <a:ea typeface="Red Hat Display"/>
                <a:cs typeface="Red Hat Display"/>
                <a:sym typeface="Red Hat Display"/>
              </a:rPr>
              <a:t>F</a:t>
            </a:r>
            <a:r>
              <a:rPr lang="en-US" sz="2799">
                <a:solidFill>
                  <a:srgbClr val="FFFFFF"/>
                </a:solidFill>
                <a:latin typeface="Red Hat Display"/>
                <a:ea typeface="Red Hat Display"/>
                <a:cs typeface="Red Hat Display"/>
                <a:sym typeface="Red Hat Display"/>
              </a:rPr>
              <a:t>unctional and non-functional requirements were both defined to give a complete view for developers and stakeholders.</a:t>
            </a:r>
          </a:p>
          <a:p>
            <a:pPr algn="just">
              <a:lnSpc>
                <a:spcPts val="3919"/>
              </a:lnSpc>
            </a:pPr>
            <a:r>
              <a:rPr lang="en-US" sz="2799">
                <a:solidFill>
                  <a:srgbClr val="FFFFFF"/>
                </a:solidFill>
                <a:latin typeface="Red Hat Display"/>
                <a:ea typeface="Red Hat Display"/>
                <a:cs typeface="Red Hat Display"/>
                <a:sym typeface="Red Hat Display"/>
              </a:rPr>
              <a:t>Finally, validation was done with real users and network operators to ensure the system meets actual needs and expectations.</a:t>
            </a:r>
          </a:p>
          <a:p>
            <a:pPr algn="just">
              <a:lnSpc>
                <a:spcPts val="3919"/>
              </a:lnSpc>
            </a:pPr>
          </a:p>
        </p:txBody>
      </p:sp>
      <p:sp>
        <p:nvSpPr>
          <p:cNvPr name="Freeform 7" id="7"/>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DAHJXPHL1Gg</dc:identifier>
  <dcterms:modified xsi:type="dcterms:W3CDTF">2011-08-01T06:04:30Z</dcterms:modified>
  <cp:revision>1</cp:revision>
  <dc:title>Design and Implementation of a Mobile App for Collection of User Experiencae Data from Mobile Network Subscribers</dc:title>
</cp:coreProperties>
</file>