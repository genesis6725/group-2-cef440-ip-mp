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687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QoETRACK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It.  Report It.  Improve It.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Application for Collecting Quality of Experience Data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Mobile Network Subscribers in Cameroon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8869680" cy="18288"/>
          </a:xfrm>
          <a:prstGeom prst="rect">
            <a:avLst/>
          </a:prstGeom>
          <a:solidFill>
            <a:srgbClr val="2E4A7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4805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CEF440 </a:t>
            </a:r>
            <a:r>
              <a:rPr lang="en-US" sz="1300" b="1" dirty="0" smtClean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Programming and Mobile Programming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|  Faculty of Engineering and Technology  |  Dept. of Computer Engineering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•  Course Instructor: Dr. Valery Nkemeni  •  2025/2026 Academic Year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6235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Efuetngong Genesis Tazisong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Matute Molua Fritz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Nwantoly Stephill Favour Benyella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Nyanyoh Divine-Fortune Banfila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Tenken Manpla Ulrich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5577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subscribers in Cameroon regularly face signal degradation, high latency, call drops, and unstable connections.</a:t>
            </a:r>
            <a:endParaRPr lang="en-US" sz="150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operators rely on technical, network-side statistics that fail to capture the real Quality of Experience (QoE) perceived by end users.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widening gap between what operators measure and what subscribers actually feel.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78040" y="1554480"/>
            <a:ext cx="4434840" cy="2148840"/>
          </a:xfrm>
          <a:prstGeom prst="roundRect">
            <a:avLst>
              <a:gd name="adj" fmla="val 3404"/>
            </a:avLst>
          </a:prstGeom>
          <a:solidFill>
            <a:srgbClr val="1A3A6B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1051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244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Network-Side 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52360" y="2423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metrics only: towers, bandwidth, uptime </a:t>
            </a:r>
            <a:r>
              <a:rPr lang="en-US" sz="1150" dirty="0" smtClean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insight into user-felt experience.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178040" y="3931920"/>
            <a:ext cx="4434840" cy="2194560"/>
          </a:xfrm>
          <a:prstGeom prst="roundRect">
            <a:avLst>
              <a:gd name="adj" fmla="val 3333"/>
            </a:avLst>
          </a:prstGeom>
          <a:solidFill>
            <a:srgbClr val="00C9A7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418795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9244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Subscriber-Side View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452360" y="480060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closes the gap: combining passive metrics with active subscriber feedback, in real time.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A3A6B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1907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27632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mobile application that enables real-time collection and analysis of user experience data from mobile network subscribers.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36118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852928"/>
            <a:ext cx="457200" cy="4572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95351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34015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satisfaction ratings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37490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subjective feedback on network quality directly from users.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25112" y="2651760"/>
            <a:ext cx="36118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53712" y="2852928"/>
            <a:ext cx="457200" cy="4572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9535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53712" y="34015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performance automatically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53712" y="37490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Passively track signal, latency, jitter, and bandwidth in the background.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101584" y="2651760"/>
            <a:ext cx="36118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30184" y="2852928"/>
            <a:ext cx="457200" cy="4572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295351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30184" y="34015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data securely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330184" y="37490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locally (Room/SQLite) and remotely (MySQL) with encryption.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48640" y="4572000"/>
            <a:ext cx="36118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77240" y="4773168"/>
            <a:ext cx="457200" cy="4572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87375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77240" y="53218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statistical reports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777240" y="56692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charts and visual analytics from collected QoE data.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325112" y="4572000"/>
            <a:ext cx="36118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53712" y="4773168"/>
            <a:ext cx="457200" cy="4572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4873752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553712" y="53218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network optimisation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553712" y="56692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operators ground-truth data to guide coverage decisions.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8101584" y="4572000"/>
            <a:ext cx="36118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30184" y="4773168"/>
            <a:ext cx="457200" cy="4572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4873752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330184" y="53218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a user-friendly interface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8330184" y="56692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low-friction experience that encourages participation.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 / THREE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 of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1A3A6B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685800" cy="68580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0299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Subscribers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users. Provide subjective feedback (ratings) and passively generate objective network metrics through daily device usage.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874520"/>
            <a:ext cx="685800" cy="6858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20299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Operators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6160" y="34747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MTN, Orange, Camtel. Consume aggregated QoE data to optimise coverage, detect faults, and reduce customer churn.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60020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874520"/>
            <a:ext cx="685800" cy="6858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02996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Developers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0800" y="34747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implement, test, and maintain the application 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efficiency, security, and scalability.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60020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35440" y="1874520"/>
            <a:ext cx="685800" cy="6858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888" y="202996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Authorities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35440" y="34747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compliance with national and international data-privacy and telecommunications regulations.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Gathering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A3A6B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057400" y="17373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responses collected via Google Forms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A3A6B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66420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760720" y="17373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combined for full coverage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554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A3A6B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166420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464040" y="17373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apps reviewed (Speedtest, Opensignal, nPerf)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447288"/>
            <a:ext cx="502920" cy="50292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6616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49808" y="40690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9808" y="4453128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structured responses covering demographics, provider, ratings, and usage location.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383280" y="324612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584448" y="3447288"/>
            <a:ext cx="502920" cy="50292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56616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584448" y="40690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584448" y="4453128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insight into user frustration and desired features across demographics.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217920" y="324612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19088" y="3447288"/>
            <a:ext cx="502920" cy="50292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56616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19088" y="40690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Brainstorming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19088" y="4453128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candidate features: monitoring, ratings, alerts, dashboards, location tracking.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052560" y="324612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253728" y="3447288"/>
            <a:ext cx="502920" cy="50292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356616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253728" y="40690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Engineering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9253728" y="4453128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Speedtest, Opensignal, and nPerf for proven UX and metric patterns.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Analysis &amp; Prioritisation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requirements were refined into precise, measurable statements, validated for completeness, clarity, and technical feasibility, then prioritised by stakeholder impact.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feedback collection · Network monitoring · Data storage · Background operation · Privacy protection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2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E9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integration · Notifications · Data visualisation · Cloud synchronisation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mode · Theme customisation · Personalised dashboards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5" name="Text 4"/>
          <p:cNvSpPr/>
          <p:nvPr/>
        </p:nvSpPr>
        <p:spPr>
          <a:xfrm>
            <a:off x="749808" y="502920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5394960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confirmed feasible </a:t>
            </a:r>
            <a:r>
              <a:rPr lang="en-US" sz="105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adoption, rich telephony &amp; sensor APIs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48920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44568" y="502920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44568" y="5394960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Signal, network type, GPS, timestamps all achievable via Android APIs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138160" y="48920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39328" y="502920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39328" y="5394960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Room/SQLite (local) + MySQL (remote) chosen after assessing Firebase alternatives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 Specification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1A3A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1109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Feedback Collection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network quality, report call drops, evaluate speed and reliability.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55448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783080"/>
            <a:ext cx="502920" cy="502920"/>
          </a:xfrm>
          <a:prstGeom prst="ellipse">
            <a:avLst/>
          </a:prstGeom>
          <a:solidFill>
            <a:srgbClr val="1A3A6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9110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423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Network Monitoring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53712" y="2926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strength, network type, latency, packet loss, and device details.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1584" y="155448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1783080"/>
            <a:ext cx="502920" cy="502920"/>
          </a:xfrm>
          <a:prstGeom prst="ellipse">
            <a:avLst/>
          </a:prstGeom>
          <a:solidFill>
            <a:srgbClr val="1A3A6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91109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423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Operation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30184" y="2926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continuously with minimal interruption to normal device usage.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1A3A6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37997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92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Data Storage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3949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data securely persisted for later analysis.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402336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251960"/>
            <a:ext cx="502920" cy="502920"/>
          </a:xfrm>
          <a:prstGeom prst="ellipse">
            <a:avLst/>
          </a:prstGeom>
          <a:solidFill>
            <a:srgbClr val="1A3A6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437997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892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Visualisation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53712" y="53949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pivot tables, graphs, and statistical summaries.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01584" y="4023360"/>
            <a:ext cx="36118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4251960"/>
            <a:ext cx="502920" cy="502920"/>
          </a:xfrm>
          <a:prstGeom prst="ellipse">
            <a:avLst/>
          </a:prstGeom>
          <a:solidFill>
            <a:srgbClr val="1A3A6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437997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0184" y="4892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Generation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30184" y="53949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analysis, QoE evaluation, and performance reports.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A3A6B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933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1907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Application 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37760" y="171907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interaction, data collection, background monitoring, device communication.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4467E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063240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926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29260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storage, retrieval, organisation, and management (local + remote).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1421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A3A6B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270248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0740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1330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Layer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937760" y="413308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processing, QoE scoring, chart generation, statistical reporting.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22122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4467E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477256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61441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34009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 Layer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37760" y="534009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 monitoring, data management, report generation.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Modelling &amp;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complementary UML and structured-analysis diagrams form the architectural blueprint.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27685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74320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Diagram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3108960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 and six external entities.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167128"/>
            <a:ext cx="457200" cy="4572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227685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74320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26280" y="3108960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Level-0 &amp; Level-1: 4 sub-processes, 2 data stores.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01584" y="196596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02752" y="2167128"/>
            <a:ext cx="457200" cy="4572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27685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74320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302752" y="3108960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 cases across Subscriber &amp; Operator actors.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096512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4297680"/>
            <a:ext cx="457200" cy="4572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40740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487375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49808" y="523951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diagrams </a:t>
            </a: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use case, full message flow.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25112" y="4096512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4297680"/>
            <a:ext cx="457200" cy="4572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440740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26280" y="487375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26280" y="523951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classes: Subscriber, MobileApp, QoEMeasurement…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01584" y="4096512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02752" y="4297680"/>
            <a:ext cx="457200" cy="457200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4407408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02752" y="487375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Diagram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302752" y="523951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artefacts to Mobile, App, DB, and Web servers.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Offline-First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7325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38528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574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603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Client Tier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2944368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+ local Room/SQLite. Lightweight, fully functional offline.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51960" y="1737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73259"/>
          </a:solidFill>
          <a:ln/>
        </p:spPr>
      </p:sp>
      <p:sp>
        <p:nvSpPr>
          <p:cNvPr id="11" name="Shape 8"/>
          <p:cNvSpPr/>
          <p:nvPr/>
        </p:nvSpPr>
        <p:spPr>
          <a:xfrm>
            <a:off x="4453128" y="1938528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574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53128" y="25603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Server Tier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53128" y="2944368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backend (Express.js) handling business logic and sync.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55280" y="1737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73259"/>
          </a:solidFill>
          <a:ln/>
        </p:spPr>
      </p:sp>
      <p:sp>
        <p:nvSpPr>
          <p:cNvPr id="16" name="Shape 12"/>
          <p:cNvSpPr/>
          <p:nvPr/>
        </p:nvSpPr>
        <p:spPr>
          <a:xfrm>
            <a:off x="8156448" y="1938528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0574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56448" y="25603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</a:t>
            </a: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156448" y="2944368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operator-facing analytics and reporting.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48640" y="457200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Offline-first: local buffering with an upload queue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collection every 5 minutes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Privacy-by-design: dedicated permission &amp; deletion flows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subscriber vs. operator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communication throughout for scalability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Identity &amp; Visual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4480560"/>
          </a:xfrm>
          <a:prstGeom prst="roundRect">
            <a:avLst>
              <a:gd name="adj" fmla="val 2222"/>
            </a:avLst>
          </a:prstGeom>
          <a:solidFill>
            <a:srgbClr val="1A3A6B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920240"/>
            <a:ext cx="1554480" cy="15544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9202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QoET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QoETRACK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It. Report It. Improve It.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Headings: Poppins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Inter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5349240"/>
            <a:ext cx="365760" cy="36576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5349240"/>
            <a:ext cx="365760" cy="3657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5349240"/>
            <a:ext cx="365760" cy="365760"/>
          </a:xfrm>
          <a:prstGeom prst="ellipse">
            <a:avLst/>
          </a:prstGeom>
          <a:solidFill>
            <a:srgbClr val="F4F8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5349240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554480"/>
            <a:ext cx="181051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55464" y="1691640"/>
            <a:ext cx="329184" cy="329184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1764792"/>
            <a:ext cx="182880" cy="1828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160520" y="212140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35040" y="1554480"/>
            <a:ext cx="181051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75704" y="1691640"/>
            <a:ext cx="329184" cy="329184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56" y="1764792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080760" y="212140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955280" y="1554480"/>
            <a:ext cx="181051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695944" y="1691640"/>
            <a:ext cx="329184" cy="329184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096" y="1764792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001000" y="212140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875520" y="1554480"/>
            <a:ext cx="181051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10616184" y="1691640"/>
            <a:ext cx="329184" cy="329184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36" y="1764792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921240" y="212140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114800" y="2715768"/>
            <a:ext cx="181051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855464" y="2852928"/>
            <a:ext cx="329184" cy="329184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926080"/>
            <a:ext cx="182880" cy="1828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160520" y="328269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Form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035040" y="2715768"/>
            <a:ext cx="181051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775704" y="2852928"/>
            <a:ext cx="329184" cy="329184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56" y="2926080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080760" y="328269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7955280" y="2715768"/>
            <a:ext cx="181051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695944" y="2852928"/>
            <a:ext cx="329184" cy="329184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096" y="2926080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001000" y="328269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9875520" y="2715768"/>
            <a:ext cx="181051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10616184" y="2852928"/>
            <a:ext cx="329184" cy="329184"/>
          </a:xfrm>
          <a:prstGeom prst="ellipse">
            <a:avLst/>
          </a:prstGeom>
          <a:solidFill>
            <a:srgbClr val="E6F9F6"/>
          </a:solidFill>
          <a:ln/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36" y="2926080"/>
            <a:ext cx="182880" cy="18288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921240" y="328269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Notice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4114800" y="401421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screens designed in Figma (360×800px) and implemented natively </a:t>
            </a:r>
            <a:r>
              <a:rPr lang="en-US" sz="115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clickable prototype flow.</a:t>
            </a:r>
            <a:endParaRPr lang="en-US" sz="1150" dirty="0"/>
          </a:p>
        </p:txBody>
      </p:sp>
      <p:sp>
        <p:nvSpPr>
          <p:cNvPr id="47" name="Text 3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XML view layouts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Components + ConstraintLayout / LinearLayout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SDK 24 (Android 7.0)  →  Target SDK 37 (Android 15)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Theme.AppCompat.Light.NoActionBar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Splash → Onboarding → Permission → Dashboard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(shortened to Splash → Dashboard on repeat launches)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end-to-end on a physical Samsung device via wireless debugging.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1A3A6B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Solved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1284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84848" y="213969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dependency notation errors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to full implementation("group:artifact:version") syntax</a:t>
            </a:r>
            <a:endParaRPr lang="en-US" sz="11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96265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4848" y="288950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skipped on re-install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by clearing stale SharedPreferences flag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71246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84848" y="363931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rendering as a square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drawable shape from rectangle to oval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46227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84848" y="43891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font references failing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structured res/font/ with renamed weight files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EIGHT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8346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 (PK), device_id (unique)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registration per device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signal_strength, latency, jitter, GPS, synced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collection event, every 15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overall_satisfaction, speed, usability, comments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Subjective rating from the Feedback screen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AppSettings*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dark_mode, bg_collection, prompt_frequency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Local-only singleton (*not synced)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Offline-first: Room/SQLite first, async push to MySQL via WorkManager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Synced-flag pattern: set true only on confirmed HTTP 201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model per device (device_id as unique key)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naming shared across Room, Sequelize, and MySQL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EIGHT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Synchronisation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68780" y="1783080"/>
            <a:ext cx="548640" cy="548640"/>
          </a:xfrm>
          <a:prstGeom prst="ellipse">
            <a:avLst/>
          </a:prstGeom>
          <a:solidFill>
            <a:srgbClr val="1A3A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796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Sensors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807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TelephonyManager &amp; Feedback UI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27832" y="20574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611880" y="16002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4860" y="1783080"/>
            <a:ext cx="548640" cy="548640"/>
          </a:xfrm>
          <a:prstGeom prst="ellipse">
            <a:avLst/>
          </a:prstGeom>
          <a:solidFill>
            <a:srgbClr val="1A3A6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6" y="19110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/ SQLite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703320" y="2807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persistence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153912" y="20574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537960" y="16002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520940" y="1783080"/>
            <a:ext cx="548640" cy="548640"/>
          </a:xfrm>
          <a:prstGeom prst="ellipse">
            <a:avLst/>
          </a:prstGeom>
          <a:solidFill>
            <a:srgbClr val="1A3A6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956" y="191109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940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Retrofit + WorkManager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629400" y="2807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worker, every 15 min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9079992" y="20574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464040" y="16002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447020" y="1783080"/>
            <a:ext cx="548640" cy="548640"/>
          </a:xfrm>
          <a:prstGeom prst="ellipse">
            <a:avLst/>
          </a:prstGeom>
          <a:solidFill>
            <a:srgbClr val="1A3A6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5036" y="191109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5548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Railway MySQL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555480" y="2807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ORM, Express.js API</a:t>
            </a:r>
            <a:endParaRPr lang="en-US" sz="9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64240" cy="23042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 (200 OK)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/api/metrics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a batch of network metrics (201 Created)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/api/metrics/user/:userId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last 50 metric readings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a feedback submission (201 Created)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/api/feedback/user/:userId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last 50 feedback entries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 2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REAL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Sync Verification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703320" cy="1463040"/>
          </a:xfrm>
          <a:prstGeom prst="roundRect">
            <a:avLst>
              <a:gd name="adj" fmla="val 5000"/>
            </a:avLst>
          </a:prstGeom>
          <a:solidFill>
            <a:srgbClr val="17325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network metric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collected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703320" cy="1463040"/>
          </a:xfrm>
          <a:prstGeom prst="roundRect">
            <a:avLst>
              <a:gd name="adj" fmla="val 5000"/>
            </a:avLst>
          </a:prstGeom>
          <a:solidFill>
            <a:srgbClr val="173259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737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17720" y="23957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user-submitted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entries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645920"/>
            <a:ext cx="3703320" cy="1463040"/>
          </a:xfrm>
          <a:prstGeom prst="roundRect">
            <a:avLst>
              <a:gd name="adj" fmla="val 5000"/>
            </a:avLst>
          </a:prstGeom>
          <a:solidFill>
            <a:srgbClr val="173259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737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Buea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458200" y="23957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device location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(4.16°N, 9.29°E)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Chain: Room → Retrofit → Railway → MySQL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MySQL Data tab shows network_metrics rows synced with matching GPS coordinates to local records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table shows synced rows with ratings and comments matching device entries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Database Inspector confirms local 'synced' column updated to 1 after successful push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NINE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19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Achievements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 </a:t>
            </a:r>
            <a:r>
              <a:rPr lang="en-US" sz="11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lost when network is unavailable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QoE data: 50+ metrics + 10 feedback entries from Buea, Cameroon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Cloud-deployed backend, publicly accessible on Railway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background sync with retry logic via WorkManager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via cascading deletes across schemas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implemented, tested 7-screen Android app with brand identity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55448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7373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719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46520" y="219456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 is estimated as 0.0, not directly measured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uses a fixed user_id = 1 (no JWT/OAuth yet)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AppSettings is local-only </a:t>
            </a:r>
            <a:r>
              <a:rPr lang="en-US" sz="11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synced across devices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production-grade API security (rate limiting, HTTPS-only)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 |  CEF440  Internet &amp; Mobile Programming  |  University of Buea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572000" cy="45720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&amp; 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7325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Multi-attempt packet-loss measurement for greater accuracy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JWT/OAuth authentication for multiple registered users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settings synchronisation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backend: API keys, rate limiting, enforced HTTPS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 the operator-facing dashboard with heatmaps &amp; exports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platform support to 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QoETRACK demonstrates that a lightweight, offline-first Android application can bridge the gap between network-side technical monitoring and the real Quality of Experience perceived by mobile subscribers in Cameroon </a:t>
            </a:r>
            <a:r>
              <a:rPr lang="en-US" sz="1250" dirty="0" smtClean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end-to-end with real device data.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•  CEF440  •  University of Buea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1735</Words>
  <Application>Microsoft Office PowerPoint</Application>
  <PresentationFormat>Widescreen</PresentationFormat>
  <Paragraphs>311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QoETRACK Final Project Presentation</dc:title>
  <dc:subject>PptxGenJS Presentation</dc:subject>
  <dc:creator>Group 2 - CEF440</dc:creator>
  <cp:lastModifiedBy>chosen rock computer</cp:lastModifiedBy>
  <cp:revision>3</cp:revision>
  <dcterms:created xsi:type="dcterms:W3CDTF">2026-07-04T00:22:36Z</dcterms:created>
  <dcterms:modified xsi:type="dcterms:W3CDTF">2026-07-04T01:12:54Z</dcterms:modified>
</cp:coreProperties>
</file>