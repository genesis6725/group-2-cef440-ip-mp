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5000" autoAdjust="0"/>
  </p:normalViewPr>
  <p:slideViewPr>
    <p:cSldViewPr snapToGrid="0" snapToObjects="1">
      <p:cViewPr>
        <p:scale>
          <a:sx n="72" d="100"/>
          <a:sy n="72" d="100"/>
        </p:scale>
        <p:origin x="95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925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365760"/>
            <a:ext cx="3200400" cy="3200400"/>
          </a:xfrm>
          <a:prstGeom prst="roundRect">
            <a:avLst>
              <a:gd name="adj" fmla="val 11429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82880"/>
            <a:ext cx="2286000" cy="2286000"/>
          </a:xfrm>
          <a:prstGeom prst="roundRect">
            <a:avLst>
              <a:gd name="adj" fmla="val 12000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CEF440  ·  2025–2026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Implementation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 ·  Two-tier Room/SQLite + MySQL cloud architecture for mobile QoE data collection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5EEAD4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348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Data Attributes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34640" y="443484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5EEAD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44348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Entities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443484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5EEAD4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4348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API Endpoints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443484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5EEAD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4348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Cloud</a:t>
            </a:r>
            <a:endParaRPr lang="en-US" sz="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657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offline-first architecture for real-time QoE data collection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25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Device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4767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901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TelephonyManager / ConnectivityManager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051560" y="2167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metric collection every 15 min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02920" y="2587752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6090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615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/ SQLite (qoetrack_local_db)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05156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local storage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02920" y="3300984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7413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328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SyncWorker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051560" y="3593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 with retry logic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02920" y="4014216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8736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4041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FeedbackFragment (User Input)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1051560" y="43068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ratings, sliders, free-text comments</a:t>
            </a:r>
            <a:endParaRPr lang="en-US" sz="8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0832" y="265176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315968" y="31272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4892040" y="114300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1325880"/>
            <a:ext cx="411480" cy="4114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669280" y="1325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 Cloud</a:t>
            </a:r>
            <a:endParaRPr lang="en-US" sz="1500" dirty="0"/>
          </a:p>
        </p:txBody>
      </p:sp>
      <p:sp>
        <p:nvSpPr>
          <p:cNvPr id="29" name="Shape 20"/>
          <p:cNvSpPr/>
          <p:nvPr/>
        </p:nvSpPr>
        <p:spPr>
          <a:xfrm>
            <a:off x="5029200" y="187452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6360" y="1947672"/>
            <a:ext cx="320040" cy="32004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577840" y="1901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Backend (Node.js v22)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5577840" y="2167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5 endpoints</a:t>
            </a:r>
            <a:endParaRPr lang="en-US" sz="850" dirty="0"/>
          </a:p>
        </p:txBody>
      </p:sp>
      <p:sp>
        <p:nvSpPr>
          <p:cNvPr id="33" name="Shape 23"/>
          <p:cNvSpPr/>
          <p:nvPr/>
        </p:nvSpPr>
        <p:spPr>
          <a:xfrm>
            <a:off x="5029200" y="2587752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2660904"/>
            <a:ext cx="320040" cy="32004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577840" y="2615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— qoetrack_db</a:t>
            </a:r>
            <a:endParaRPr lang="en-US" sz="950" dirty="0"/>
          </a:p>
        </p:txBody>
      </p:sp>
      <p:sp>
        <p:nvSpPr>
          <p:cNvPr id="36" name="Text 25"/>
          <p:cNvSpPr/>
          <p:nvPr/>
        </p:nvSpPr>
        <p:spPr>
          <a:xfrm>
            <a:off x="557784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tables: users, network_metrics, feedback</a:t>
            </a:r>
            <a:endParaRPr lang="en-US" sz="850" dirty="0"/>
          </a:p>
        </p:txBody>
      </p:sp>
      <p:sp>
        <p:nvSpPr>
          <p:cNvPr id="37" name="Shape 26"/>
          <p:cNvSpPr/>
          <p:nvPr/>
        </p:nvSpPr>
        <p:spPr>
          <a:xfrm>
            <a:off x="5029200" y="3300984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6360" y="3374136"/>
            <a:ext cx="320040" cy="32004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577840" y="3328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ORM 6.x</a:t>
            </a:r>
            <a:endParaRPr lang="en-US" sz="950" dirty="0"/>
          </a:p>
        </p:txBody>
      </p:sp>
      <p:sp>
        <p:nvSpPr>
          <p:cNvPr id="40" name="Text 28"/>
          <p:cNvSpPr/>
          <p:nvPr/>
        </p:nvSpPr>
        <p:spPr>
          <a:xfrm>
            <a:off x="5577840" y="3593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schema on deploy</a:t>
            </a:r>
            <a:endParaRPr lang="en-US" sz="850" dirty="0"/>
          </a:p>
        </p:txBody>
      </p:sp>
      <p:sp>
        <p:nvSpPr>
          <p:cNvPr id="41" name="Shape 29"/>
          <p:cNvSpPr/>
          <p:nvPr/>
        </p:nvSpPr>
        <p:spPr>
          <a:xfrm>
            <a:off x="5029200" y="4014216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6360" y="4087368"/>
            <a:ext cx="320040" cy="32004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577840" y="4041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+ ENV variable secrets</a:t>
            </a:r>
            <a:endParaRPr lang="en-US" sz="950" dirty="0"/>
          </a:p>
        </p:txBody>
      </p:sp>
      <p:sp>
        <p:nvSpPr>
          <p:cNvPr id="44" name="Text 31"/>
          <p:cNvSpPr/>
          <p:nvPr/>
        </p:nvSpPr>
        <p:spPr>
          <a:xfrm>
            <a:off x="5577840" y="43068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Railway internal hostname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Elements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attributes across 4 entities — passive collection + active user input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0F1E35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blurRad="152400" dist="25400" dir="2700000" algn="bl" rotWithShape="0">
              <a:srgbClr val="0D94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155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1106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17190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device_id (UNIQUE)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19293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2560320"/>
            <a:ext cx="3749040" cy="201168"/>
          </a:xfrm>
          <a:prstGeom prst="roundRect">
            <a:avLst>
              <a:gd name="adj" fmla="val 2272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560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registration per device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54880" y="10515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0F1E35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blurRad="152400" dist="25400" dir="2700000" algn="bl" rotWithShape="0">
              <a:srgbClr val="0891B2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05156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11556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1106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NetworkMetric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37760" y="15087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metric_id (PK)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937760" y="17190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network_type, signal_strength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937760" y="19293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jitter, bandwidth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937760" y="21396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937760" y="235000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recorded_at, synced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937760" y="2560320"/>
            <a:ext cx="3749040" cy="201168"/>
          </a:xfrm>
          <a:prstGeom prst="roundRect">
            <a:avLst>
              <a:gd name="adj" fmla="val 22727"/>
            </a:avLst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37760" y="2560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— every 15 min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20040" y="31089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0F1E35"/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152400" dist="25400" dir="2700000" algn="bl" rotWithShape="0">
              <a:srgbClr val="059669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0040" y="310896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172968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58952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02920" y="3566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feedback_id (PK)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502920" y="37764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overall_satisfaction (1–5)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502920" y="39867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speed_rating, usability_rating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502920" y="41970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(free text)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502920" y="440740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submitted_at, synced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502920" y="4617720"/>
            <a:ext cx="3749040" cy="201168"/>
          </a:xfrm>
          <a:prstGeom prst="roundRect">
            <a:avLst>
              <a:gd name="adj" fmla="val 22727"/>
            </a:avLst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0292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user submitted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4754880" y="31089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0F1E35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52400" dist="25400" dir="2700000" algn="bl" rotWithShape="0">
              <a:srgbClr val="7C3AED">
                <a:alpha val="2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754880" y="310896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172968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193792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AppSettings*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4937760" y="3566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1 (singleton)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937760" y="37764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dark_mode_enabled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4937760" y="39867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bg_collection_enabled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4937760" y="41970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prompt_frequency_hrs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4937760" y="4617720"/>
            <a:ext cx="3749040" cy="201168"/>
          </a:xfrm>
          <a:prstGeom prst="roundRect">
            <a:avLst>
              <a:gd name="adj" fmla="val 22727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93776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 — not synced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Design &amp; ER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relationships, and key design decisions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487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NETWORK_METRIC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8B20EC4-C284-540D-A403-1F7405682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2" y="1033272"/>
            <a:ext cx="8816898" cy="3718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Database — Android Room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embedded in the Android app for offline-first data persistence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0F1E35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blurRad="127000" dist="25400" dir="2700000" algn="bl" rotWithShape="0">
              <a:srgbClr val="0891B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704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170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@Entity Classes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" y="1664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NetworkMetricEntity.kt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4632" y="2121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@PrimaryKey(autoGenerate=true)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84632" y="21214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84632" y="25786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networkType, signal,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" y="25786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4632" y="3035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jitter, bandwidth,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84632" y="30358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4632" y="3493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lat/lon, recordedAt, synced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4632" y="34930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246120" y="109728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0F1E35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blurRad="127000" dist="25400" dir="2700000" algn="bl" rotWithShape="0">
              <a:srgbClr val="0D9488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109728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17043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21608" y="1170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DAO Interfaces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410712" y="1664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NetworkMetricDao.kt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410712" y="2121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 — save new row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410712" y="21214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410712" y="25786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getUnsynced() — query pending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410712" y="25786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410712" y="3035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markSynced(id) — after upload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410712" y="30358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410712" y="3493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observeLatest() — Flow for UI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410712" y="34930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6172200" y="109728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0F1E35"/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127000" dist="25400" dir="2700000" algn="bl" rotWithShape="0">
              <a:srgbClr val="059669">
                <a:alpha val="3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172200" y="109728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170432"/>
            <a:ext cx="292608" cy="29260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647688" y="1170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RoomDatabase Class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336792" y="1664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QoETrackDatabase.kt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6336792" y="2121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= 2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336792" y="21214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6336792" y="25786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NetworkMetric,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6336792" y="25786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6336792" y="3035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AppSettings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336792" y="30358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6336792" y="3493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getInstance()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6336792" y="34930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50+ real rows collected from Buea, Cameroon  ·  GPS lat ≈ 4.1556  ·  Verified in Android Studio Database Inspector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Database  MySQL on Railway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cloud schema —3 tables with full referential integrity</a:t>
            </a:r>
            <a:endParaRPr lang="en-US" sz="1100" dirty="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9F9DEFDE-2A32-FA8E-B2E2-E0C5E7FFA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053" y="1033272"/>
            <a:ext cx="4534831" cy="3947606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D798047E-9492-EB9E-BDB1-CAA1AF23F7EC}"/>
              </a:ext>
            </a:extLst>
          </p:cNvPr>
          <p:cNvSpPr txBox="1"/>
          <p:nvPr/>
        </p:nvSpPr>
        <p:spPr>
          <a:xfrm>
            <a:off x="74342" y="1252728"/>
            <a:ext cx="41854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Core Identity: The users table tracks unique hardware "</a:t>
            </a:r>
            <a:r>
              <a:rPr lang="en-US" sz="1400" dirty="0" err="1"/>
              <a:t>device_id</a:t>
            </a:r>
            <a:r>
              <a:rPr lang="en-US" sz="1400" dirty="0"/>
              <a:t>" and registration timestamps.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Performance Telemetry: The "</a:t>
            </a:r>
            <a:r>
              <a:rPr lang="en-US" sz="1400" dirty="0" err="1"/>
              <a:t>network_metrics</a:t>
            </a:r>
            <a:r>
              <a:rPr lang="en-US" sz="1400" dirty="0"/>
              <a:t>" table logs signal, latency, bandwidth, and GPS coordinates.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User Sentiment: The feedback table captures star ratings, usability scores, and open comments.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Relational Integrity: Both child tables link via "</a:t>
            </a:r>
            <a:r>
              <a:rPr lang="en-US" sz="1400" dirty="0" err="1"/>
              <a:t>user_id</a:t>
            </a:r>
            <a:r>
              <a:rPr lang="en-US" sz="1400" dirty="0"/>
              <a:t>" using "ON DELETE CASCADE" for clean deletion.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Offline-Ready: A synced </a:t>
            </a:r>
            <a:r>
              <a:rPr lang="en-US" sz="1400" dirty="0" err="1"/>
              <a:t>boolean</a:t>
            </a:r>
            <a:r>
              <a:rPr lang="en-US" sz="1400" dirty="0"/>
              <a:t> flag tracks pending local database updates for future sync.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Clean Separation: The 3-table schema in image_3d5e3d.png clearly isolates identity, network metrics, and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 Express.js on Railway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v22  ·  Express.js 4.x  ·  Sequelize ORM  ·  MySQL2 driver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39112" y="100584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9112" y="10058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4.x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58184" y="100584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8184" y="10058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6.x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77256" y="100584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77256" y="10058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96328" y="100584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6328" y="10058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Railway.app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41732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444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1444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1444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828800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92024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9202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70432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62272" y="1920240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059669">
              <a:alpha val="3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92024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949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server 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359152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450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4505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70432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/api/metrics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62272" y="2450592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24505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9496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network metrics from Android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889504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98094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9809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70432" y="2980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/api/metrics/user/:userId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62272" y="2980944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059669">
              <a:alpha val="3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62272" y="298094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94960" y="2980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50 metric readings for a user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419856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3511296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5112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70432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/api/feedback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62272" y="3511296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62272" y="35112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94960" y="3511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submission from Android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3950208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404164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0416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70432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/api/feedback/user/:userId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62272" y="4041648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059669">
              <a:alpha val="3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62272" y="40416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94960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50 feedback entries for a user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461772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0F1E35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https://qoetrack-backend-production.up.railway.app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Sync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device sensor to Railway MySQL — the complete data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891B2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5820" y="118872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Collection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8912" y="292608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TelephonyManager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ConnectivityManager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FusedLocationProvider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828800" y="2331720"/>
            <a:ext cx="25603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93392" y="22402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84832" y="109728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D9488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4892" y="11887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489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18288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30552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Room Write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157984" y="292608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NetworkMetricEntity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 with synced=false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LiveData updates UI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547872" y="233172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12464" y="22402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03904" y="109728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59669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283964" y="118872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83964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182880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849624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SyncWorker Runs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877056" y="292608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minutes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unsynced rows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JSON payload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266944" y="2331720"/>
            <a:ext cx="256032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431536" y="22402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522976" y="109728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7C3AED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003036" y="11887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003036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896" y="182880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68696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Retrofit POST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596128" y="292608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to Railway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/api/metrics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response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6986016" y="2331720"/>
            <a:ext cx="25603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150608" y="22402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7242048" y="109728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722108" y="11887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72210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1828800"/>
            <a:ext cx="457200" cy="4572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287768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Stored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7315200" y="292608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model saves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in network_metrics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 ready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 201 OK: markSynced(id) updates Room — synced = 1  ·  WorkManager retries automatically on failure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sub-tasks completed  ·  Real data from Buea, Cameroon  ·  Cloud-deployed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105156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15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15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05156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115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90372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8503920" cy="365760"/>
          </a:xfrm>
          <a:prstGeom prst="roundRect">
            <a:avLst>
              <a:gd name="adj" fmla="val 15000"/>
            </a:avLst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41448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9808" y="2441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34640" y="244144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attributes across 4 entities documented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2807208"/>
            <a:ext cx="8503920" cy="3657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871216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9808" y="2871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834640" y="287121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attributes, relationships, design decisions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0040" y="3236976"/>
            <a:ext cx="8503920" cy="365760"/>
          </a:xfrm>
          <a:prstGeom prst="roundRect">
            <a:avLst>
              <a:gd name="adj" fmla="val 15000"/>
            </a:avLst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300984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9808" y="33009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2834640" y="330098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diagram with crow's foot notation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20040" y="3666744"/>
            <a:ext cx="8503920" cy="3657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73075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3730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Implementation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2834640" y="373075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(local) + MySQL Railway cloud — 3 tables live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20040" y="4096512"/>
            <a:ext cx="8503920" cy="365760"/>
          </a:xfrm>
          <a:prstGeom prst="roundRect">
            <a:avLst>
              <a:gd name="adj" fmla="val 15000"/>
            </a:avLst>
          </a:prstGeom>
          <a:solidFill>
            <a:srgbClr val="0F1E35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160520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9808" y="4160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Implementation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2834640" y="4160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API deployed, 5 endpoints active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20040" y="4526280"/>
            <a:ext cx="8503920" cy="3657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590288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49808" y="45902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↔ Backend Connection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2834640" y="459028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sync verified: Room → Retrofit → MySQL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Mobile Application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10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Database Design and 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CEF440 — Internet &amp; Mobile Programming  ·  University of Buea  ·  2025–2026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4206240"/>
            <a:ext cx="347472" cy="347472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206240"/>
            <a:ext cx="347472" cy="347472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206240"/>
            <a:ext cx="347472" cy="347472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206240"/>
            <a:ext cx="347472" cy="347472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20624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916</Words>
  <Application>Microsoft Office PowerPoint</Application>
  <PresentationFormat>On-screen Show (16:9)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QoETRACK Task 6 — Database Design and Implementation</dc:title>
  <dc:subject>PptxGenJS Presentation</dc:subject>
  <dc:creator>CEF440 Group</dc:creator>
  <cp:lastModifiedBy>EFUETNGONG GENESIS TAZISONG</cp:lastModifiedBy>
  <cp:revision>2</cp:revision>
  <dcterms:created xsi:type="dcterms:W3CDTF">2026-06-16T04:17:33Z</dcterms:created>
  <dcterms:modified xsi:type="dcterms:W3CDTF">2026-06-16T07:52:13Z</dcterms:modified>
</cp:coreProperties>
</file>