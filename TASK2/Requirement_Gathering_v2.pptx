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4" r:id="rId6"/>
    <p:sldId id="268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200" b="1" i="0" u="none" strike="noStrike">
                <a:solidFill>
                  <a:srgbClr val="1B3A5C"/>
                </a:solidFill>
                <a:latin typeface="Arial"/>
              </a:rPr>
              <a:t>Respondents by Age Range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EE-4382-B98C-8C71ADE9334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8EE-4382-B98C-8C71ADE9334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8EE-4382-B98C-8C71ADE9334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8EE-4382-B98C-8C71ADE933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54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15–20</c:v>
                </c:pt>
                <c:pt idx="1">
                  <c:v>21–25</c:v>
                </c:pt>
                <c:pt idx="2">
                  <c:v>26–30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95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EE-4382-B98C-8C71ADE93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200" b="1" i="0" u="none" strike="noStrike">
                <a:solidFill>
                  <a:srgbClr val="1B3A5C"/>
                </a:solidFill>
                <a:latin typeface="Arial"/>
              </a:rPr>
              <a:t>Operating System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System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BD-43A7-BF4E-0599B1A1798C}"/>
              </c:ext>
            </c:extLst>
          </c:dPt>
          <c:dPt>
            <c:idx val="1"/>
            <c:bubble3D val="0"/>
            <c:spPr>
              <a:solidFill>
                <a:srgbClr val="C8D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BD-43A7-BF4E-0599B1A1798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BD-43A7-BF4E-0599B1A1798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BD-43A7-BF4E-0599B1A1798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Android</c:v>
                </c:pt>
                <c:pt idx="1">
                  <c:v>iPhone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BD-43A7-BF4E-0599B1A179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LID4096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5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150" b="1" i="0" u="none" strike="noStrike">
                <a:solidFill>
                  <a:srgbClr val="1B3A5C"/>
                </a:solidFill>
                <a:latin typeface="Arial"/>
              </a:rPr>
              <a:t>Overall Network Experience Ratings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72-4187-92FA-2718EE49AC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172-4187-92FA-2718EE49AC1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172-4187-92FA-2718EE49AC1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172-4187-92FA-2718EE49AC1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54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Average</c:v>
                </c:pt>
                <c:pt idx="1">
                  <c:v>Poor</c:v>
                </c:pt>
                <c:pt idx="2">
                  <c:v>Good</c:v>
                </c:pt>
                <c:pt idx="3">
                  <c:v>Very Poor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</c:v>
                </c:pt>
                <c:pt idx="1">
                  <c:v>30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72-4187-92FA-2718EE49AC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5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150" b="1" i="0" u="none" strike="noStrike">
                <a:solidFill>
                  <a:srgbClr val="1B3A5C"/>
                </a:solidFill>
                <a:latin typeface="Arial"/>
              </a:rPr>
              <a:t>Slow Internet Frequency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5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69-4E70-A121-78A97B335002}"/>
              </c:ext>
            </c:extLst>
          </c:dPt>
          <c:dPt>
            <c:idx val="1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69-4E70-A121-78A97B335002}"/>
              </c:ext>
            </c:extLst>
          </c:dPt>
          <c:dPt>
            <c:idx val="2"/>
            <c:bubble3D val="0"/>
            <c:spPr>
              <a:solidFill>
                <a:srgbClr val="C8D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69-4E70-A121-78A97B335002}"/>
              </c:ext>
            </c:extLst>
          </c:dPt>
          <c:dPt>
            <c:idx val="3"/>
            <c:bubble3D val="0"/>
            <c:spPr>
              <a:solidFill>
                <a:srgbClr val="EEF2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69-4E70-A121-78A97B33500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B69-4E70-A121-78A97B33500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69-4E70-A121-78A97B33500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B69-4E70-A121-78A97B33500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B69-4E70-A121-78A97B33500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Often</c:v>
                </c:pt>
                <c:pt idx="1">
                  <c:v>Sometimes</c:v>
                </c:pt>
                <c:pt idx="2">
                  <c:v>Always</c:v>
                </c:pt>
                <c:pt idx="3">
                  <c:v>Rarely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38</c:v>
                </c:pt>
                <c:pt idx="2">
                  <c:v>30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69-4E70-A121-78A97B3350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LID4096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1B3A5C"/>
                </a:solidFill>
                <a:latin typeface="Arial"/>
              </a:rPr>
              <a:t>Concerns About the App (Combined Mentions)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C8D6E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6CB-48CE-853B-BA30F7764C1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6CB-48CE-853B-BA30F7764C1D}"/>
              </c:ext>
            </c:extLst>
          </c:dPt>
          <c:dPt>
            <c:idx val="2"/>
            <c:invertIfNegative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CB-48CE-853B-BA30F7764C1D}"/>
              </c:ext>
            </c:extLst>
          </c:dPt>
          <c:dPt>
            <c:idx val="3"/>
            <c:invertIfNegative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6CB-48CE-853B-BA30F7764C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Concerns</c:v>
                </c:pt>
                <c:pt idx="1">
                  <c:v>Battery Usage</c:v>
                </c:pt>
                <c:pt idx="2">
                  <c:v>Privacy</c:v>
                </c:pt>
                <c:pt idx="3">
                  <c:v>Data Consumption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52</c:v>
                </c:pt>
                <c:pt idx="2">
                  <c:v>68</c:v>
                </c:pt>
                <c:pt idx="3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CB-48CE-853B-BA30F7764C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1B3A5C"/>
                </a:solidFill>
                <a:latin typeface="Arial"/>
              </a:rPr>
              <a:t>Willingness to Use the App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Willingness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40-47A9-8280-09783FBB78C2}"/>
              </c:ext>
            </c:extLst>
          </c:dPt>
          <c:dPt>
            <c:idx val="1"/>
            <c:bubble3D val="0"/>
            <c:spPr>
              <a:solidFill>
                <a:srgbClr val="C8D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40-47A9-8280-09783FBB78C2}"/>
              </c:ext>
            </c:extLst>
          </c:dPt>
          <c:dPt>
            <c:idx val="2"/>
            <c:bubble3D val="0"/>
            <c:spPr>
              <a:solidFill>
                <a:srgbClr val="EEF2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40-47A9-8280-09783FBB78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40-47A9-8280-09783FBB78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40-47A9-8280-09783FBB78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40-47A9-8280-09783FBB78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Maybe</c:v>
                </c:pt>
                <c:pt idx="2">
                  <c:v>No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54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40-47A9-8280-09783FBB7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LID4096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200" b="1" i="0" u="none" strike="noStrike">
                <a:solidFill>
                  <a:srgbClr val="1B3A5C"/>
                </a:solidFill>
                <a:latin typeface="Arial"/>
              </a:rPr>
              <a:t>Preferred Feedback Frequency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AB6-4C02-B118-914AC243967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AB6-4C02-B118-914AC243967B}"/>
              </c:ext>
            </c:extLst>
          </c:dPt>
          <c:dPt>
            <c:idx val="2"/>
            <c:invertIfNegative val="0"/>
            <c:bubble3D val="0"/>
            <c:spPr>
              <a:solidFill>
                <a:srgbClr val="C8D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B6-4C02-B118-914AC243967B}"/>
              </c:ext>
            </c:extLst>
          </c:dPt>
          <c:dPt>
            <c:idx val="3"/>
            <c:invertIfNegative val="0"/>
            <c:bubble3D val="0"/>
            <c:spPr>
              <a:solidFill>
                <a:srgbClr val="C8D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B6-4C02-B118-914AC24396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54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Occasionally</c:v>
                </c:pt>
                <c:pt idx="1">
                  <c:v>Weekly</c:v>
                </c:pt>
                <c:pt idx="2">
                  <c:v>Daily</c:v>
                </c:pt>
                <c:pt idx="3">
                  <c:v>Never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46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B6-4C02-B118-914AC24396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391"/>
                </a:solidFill>
                <a:latin typeface="Arial"/>
              </a:defRPr>
            </a:pPr>
            <a:endParaRPr lang="LID4096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200" b="1" i="0" u="none" strike="noStrike">
                <a:solidFill>
                  <a:srgbClr val="1B3A5C"/>
                </a:solidFill>
                <a:latin typeface="Arial"/>
              </a:rPr>
              <a:t>Allow Location Collection?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Location Permission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05-49BD-AB9B-878BE86D22FF}"/>
              </c:ext>
            </c:extLst>
          </c:dPt>
          <c:dPt>
            <c:idx val="1"/>
            <c:bubble3D val="0"/>
            <c:spPr>
              <a:solidFill>
                <a:srgbClr val="C8D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05-49BD-AB9B-878BE86D22FF}"/>
              </c:ext>
            </c:extLst>
          </c:dPt>
          <c:dPt>
            <c:idx val="2"/>
            <c:bubble3D val="0"/>
            <c:spPr>
              <a:solidFill>
                <a:srgbClr val="EEF2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05-49BD-AB9B-878BE86D22F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05-49BD-AB9B-878BE86D22F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05-49BD-AB9B-878BE86D22F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05-49BD-AB9B-878BE86D22F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38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05-49BD-AB9B-878BE86D22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LID4096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90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26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37160" y="1701051"/>
            <a:ext cx="4069081" cy="679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6100"/>
              </a:lnSpc>
              <a:buNone/>
            </a:pPr>
            <a:endParaRPr lang="en-US" sz="2000" b="1" dirty="0">
              <a:solidFill>
                <a:schemeClr val="bg1"/>
              </a:solidFill>
              <a:latin typeface="Petrona Bold" pitchFamily="34" charset="0"/>
              <a:ea typeface="Petrona Bold" pitchFamily="34" charset="-122"/>
            </a:endParaRPr>
          </a:p>
          <a:p>
            <a:pPr marL="0" indent="0" algn="l">
              <a:lnSpc>
                <a:spcPts val="61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</a:rPr>
              <a:t>                       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656467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r>
              <a:rPr lang="en-US" sz="12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475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1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E2284FC-BC34-4DC1-9C1A-42920FB6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0"/>
            <a:ext cx="4800599" cy="51435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493E254-9D66-4195-BEB0-D313304A173A}"/>
              </a:ext>
            </a:extLst>
          </p:cNvPr>
          <p:cNvSpPr txBox="1"/>
          <p:nvPr/>
        </p:nvSpPr>
        <p:spPr>
          <a:xfrm>
            <a:off x="363070" y="1360796"/>
            <a:ext cx="3617260" cy="1602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Collection of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Data </a:t>
            </a:r>
            <a:r>
              <a:rPr lang="en-US" sz="2000" b="1" dirty="0">
                <a:solidFill>
                  <a:schemeClr val="bg1"/>
                </a:solidFill>
              </a:rPr>
              <a:t>from Mobile Network Subscribers.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B763F5-256E-4C4A-A9D4-04B62815E129}"/>
              </a:ext>
            </a:extLst>
          </p:cNvPr>
          <p:cNvSpPr txBox="1"/>
          <p:nvPr/>
        </p:nvSpPr>
        <p:spPr>
          <a:xfrm>
            <a:off x="320040" y="822960"/>
            <a:ext cx="4572000" cy="507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Presented by Group2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5212080" cy="1207008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14400"/>
            <a:ext cx="54864" cy="1207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05840"/>
            <a:ext cx="5001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Requirement Gathering?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5001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phase that defines what a system must achieve and how it should function before development begins.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2212848"/>
            <a:ext cx="5212080" cy="1207008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212848"/>
            <a:ext cx="54864" cy="1207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04288"/>
            <a:ext cx="5001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2596896"/>
            <a:ext cx="5001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mobile application that passively and actively collects user experience data from mobile network subscribers.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511296"/>
            <a:ext cx="5212080" cy="1207008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3511296"/>
            <a:ext cx="54864" cy="1207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602736"/>
            <a:ext cx="5001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" y="3895344"/>
            <a:ext cx="5001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user perception and raw technical metrics, ensuring the system is both user-centred and data-driven.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70448" y="914400"/>
            <a:ext cx="2926080" cy="3913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789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1481328"/>
            <a:ext cx="8375904" cy="22860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1627632"/>
            <a:ext cx="2633472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27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Structured Survey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16752" y="2377440"/>
            <a:ext cx="2633472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3774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In-depth Interviews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16752" y="3127248"/>
            <a:ext cx="2633472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1272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Brainstorming Sessions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16752" y="3877056"/>
            <a:ext cx="2633472" cy="566928"/>
          </a:xfrm>
          <a:prstGeom prst="rect">
            <a:avLst/>
          </a:prstGeom>
          <a:solidFill>
            <a:srgbClr val="0F2540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8770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Reverse Engineering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16752" y="4617720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responses collected via Google Forms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Identification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86868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8375904" cy="228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61872"/>
            <a:ext cx="4160520" cy="3456432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 Subscribers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8249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users of the app and primary source of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993392"/>
            <a:ext cx="8375904" cy="22860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385876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active feedback: call quality, internet speed, satisfaction ratings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Passively supply objective data: signal strength, network type, latency, location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participation volume determines data reliability and app scalability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must be user-friendly, non-intrusive, and secure to maximise engagement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8686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STAKEHOLDERS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188720"/>
            <a:ext cx="8375904" cy="228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261872"/>
            <a:ext cx="3977640" cy="1069848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261872"/>
            <a:ext cx="54864" cy="10698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1353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 Operators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74336" y="16093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MTN, Orange, Camtel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74336" y="1810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collected data to optimise resource allocation, detect faults, improve coverage, and reduce customer churn.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28032" y="2423160"/>
            <a:ext cx="3977640" cy="1069848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423160"/>
            <a:ext cx="54864" cy="10698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2514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Developers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74336" y="27706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&amp; Maintain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requirements into a functional, efficient, secure, and scalable mobile application.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28032" y="3584448"/>
            <a:ext cx="3977640" cy="1069848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3584448"/>
            <a:ext cx="54864" cy="10698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3675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Authorities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74336" y="3931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&amp; Compliance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4133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user data is collected with proper consent, stored securely, and processed in line with data protection laws.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4160520" cy="1956816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14400"/>
            <a:ext cx="4160520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144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distributed to 133 respondents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Close-ended questions for statistical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demographics, OS, network ratings, call drops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" y="2340864"/>
            <a:ext cx="3941064" cy="420624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500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Quantitative baseline on network performance and user demographics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914400"/>
            <a:ext cx="4160520" cy="1956816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914400"/>
            <a:ext cx="4160520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144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students, professionals and business users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conversations on frustrations and expectations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switching behaviour, call drop patterns, app interest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82896" y="2340864"/>
            <a:ext cx="3941064" cy="420624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3500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Qualitative insights revealing churn behaviour and unmet user expectations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962656"/>
            <a:ext cx="4160520" cy="1956816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962656"/>
            <a:ext cx="4160520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626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41985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ideation among potential users and developers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scored by feasibility, relevance and impact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the full feature list for the proposed application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" y="4389120"/>
            <a:ext cx="3941064" cy="420624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39826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Real-time monitoring, background logging, alert system, dashboard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73168" y="2962656"/>
            <a:ext cx="4160520" cy="1956816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2962656"/>
            <a:ext cx="4160520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626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41985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Speedtest, OpenSignal and nPerf applications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UI patterns, data collection methods, architecture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strengths and gaps in existing solutions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82896" y="4389120"/>
            <a:ext cx="3941064" cy="420624"/>
          </a:xfrm>
          <a:prstGeom prst="rect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439826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Best practices and innovation opportunities for the new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4265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dirty="0"/>
          </a:p>
          <a:p>
            <a:endParaRPr lang="LID4096" dirty="0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87782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490" y="535934"/>
            <a:ext cx="2494834" cy="831431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7" name="Text 5"/>
          <p:cNvSpPr/>
          <p:nvPr/>
        </p:nvSpPr>
        <p:spPr>
          <a:xfrm>
            <a:off x="167281" y="576476"/>
            <a:ext cx="3878939" cy="389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Responses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" y="877152"/>
            <a:ext cx="23061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via Google Forms from mobile network subscribers across the region.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7786" y="535934"/>
            <a:ext cx="2846745" cy="844138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0" name="Text 8"/>
          <p:cNvSpPr/>
          <p:nvPr/>
        </p:nvSpPr>
        <p:spPr>
          <a:xfrm>
            <a:off x="2624328" y="5577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41002" y="891136"/>
            <a:ext cx="26436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ratings, call drop experiences, overall satisfaction — captures Quality of Experience (QoE).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89002" y="509947"/>
            <a:ext cx="3508740" cy="884109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3" name="Text 11"/>
          <p:cNvSpPr/>
          <p:nvPr/>
        </p:nvSpPr>
        <p:spPr>
          <a:xfrm>
            <a:off x="5614820" y="625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48863" y="734244"/>
            <a:ext cx="347216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OS, network provider, age group and location identifies measurable usage patterns.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2176272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73168" y="3072384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73168" y="3968496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E11E96B-3B13-4F0D-9BB7-406857CD9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1470336"/>
            <a:ext cx="9144000" cy="35924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434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Cleaning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724" y="480060"/>
            <a:ext cx="384048" cy="6494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" y="436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Rows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9" y="706912"/>
            <a:ext cx="17540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 all-Unknown response eliminated from the dataset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56546" y="484632"/>
            <a:ext cx="1875866" cy="64492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r>
              <a:rPr lang="en-US" dirty="0"/>
              <a:t>a</a:t>
            </a:r>
            <a:endParaRPr lang="LID4096" dirty="0"/>
          </a:p>
        </p:txBody>
      </p:sp>
      <p:sp>
        <p:nvSpPr>
          <p:cNvPr id="23" name="Shape 21"/>
          <p:cNvSpPr/>
          <p:nvPr/>
        </p:nvSpPr>
        <p:spPr>
          <a:xfrm>
            <a:off x="1982635" y="483825"/>
            <a:ext cx="384048" cy="645727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73168" y="2176272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97295" y="4652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Spelling Errors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97295" y="729368"/>
            <a:ext cx="16217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"Andriod" corrected to "Android"; "</a:t>
            </a:r>
            <a:r>
              <a:rPr lang="en-US" sz="9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to "iPhone"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85258" y="483825"/>
            <a:ext cx="2155697" cy="645727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28" name="Shape 26"/>
          <p:cNvSpPr/>
          <p:nvPr/>
        </p:nvSpPr>
        <p:spPr>
          <a:xfrm>
            <a:off x="3913496" y="493776"/>
            <a:ext cx="384048" cy="6357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73168" y="3072384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41469" y="4297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Text Values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544" y="699516"/>
            <a:ext cx="1753632" cy="40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"mtm" and "mtn" unified to "MTN"; all operator names normalised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2506" y="480060"/>
            <a:ext cx="2904702" cy="64492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33" name="Shape 31"/>
          <p:cNvSpPr/>
          <p:nvPr/>
        </p:nvSpPr>
        <p:spPr>
          <a:xfrm>
            <a:off x="6132125" y="514216"/>
            <a:ext cx="384048" cy="615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  <a:endParaRPr lang="LID4096" dirty="0">
              <a:solidFill>
                <a:schemeClr val="bg2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73168" y="3968496"/>
            <a:ext cx="384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6173" y="4937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10522" y="704895"/>
            <a:ext cx="251823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blank fields replaced with the placeholder "Unknown"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AF11775-1E8A-4F9E-BD46-5923536F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" y="1166128"/>
            <a:ext cx="3769748" cy="119504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C9E6708-51EC-49E0-880C-536506566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258" y="1162273"/>
            <a:ext cx="5224523" cy="127527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17CC937-933F-48EF-8D95-9A8AF6244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6" y="2384533"/>
            <a:ext cx="9109780" cy="163697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3CACD93-FA75-40FA-B9D9-9B6749858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6" y="4229768"/>
            <a:ext cx="8924544" cy="8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7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– Key Findings (Part 1)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84048" y="868680"/>
          <a:ext cx="5074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23560" y="868680"/>
          <a:ext cx="3200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84048" y="4480560"/>
            <a:ext cx="8375904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total respondents   |   21–25 age group dominates (71.4%)   |   Android leads at 70.7%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– Key Findings (Part 2)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84048" y="868680"/>
          <a:ext cx="50749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23560" y="868680"/>
          <a:ext cx="3200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84048" y="4114800"/>
            <a:ext cx="8375904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out of 133 respondents (84.2%) experience call drops — a critical pain point that directly drives core app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Concerns – Reluctance Assessment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84048" y="868680"/>
          <a:ext cx="50749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84048" y="4114800"/>
            <a:ext cx="507492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1148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data consumption   |   51% privacy   |   39% battery usage</a:t>
            </a:r>
            <a:endParaRPr lang="en-US" sz="9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623560" y="868680"/>
          <a:ext cx="3200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623560" y="4114800"/>
            <a:ext cx="32004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15000" y="41148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56.4% Yes   |   40.6% Maybe   |   3% No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Location Preferences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84048" y="868680"/>
          <a:ext cx="50749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23560" y="868680"/>
          <a:ext cx="3200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84048" y="4114800"/>
            <a:ext cx="8375904" cy="713232"/>
          </a:xfrm>
          <a:prstGeom prst="rect">
            <a:avLst/>
          </a:prstGeom>
          <a:solidFill>
            <a:srgbClr val="EEF2F7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84048" y="4114800"/>
            <a:ext cx="54864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411480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69.9% of users would allow location sharing — yet 48.9% prefer only occasional feedback. The app should limit prompts to a maximum of 3 per day.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Reluctance – Mitigation Strategies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4160520" cy="128016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14400"/>
            <a:ext cx="38404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1440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1353312"/>
            <a:ext cx="3566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opt-in consent flow, visible privacy policy, compliance with data protection regulations.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2286000"/>
            <a:ext cx="4160520" cy="128016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286000"/>
            <a:ext cx="38404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8600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24140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Optimisation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2724912"/>
            <a:ext cx="3566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background algorithms, reduce collection frequency when the device is idle.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657600"/>
            <a:ext cx="4160520" cy="128016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657600"/>
            <a:ext cx="38404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65760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7824" y="37856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Data Consumption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4096512"/>
            <a:ext cx="3566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only on Wi-Fi (driven by 73% concern), compress payloads, transmit only essential metrics.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73168" y="914400"/>
            <a:ext cx="3977640" cy="128016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914400"/>
            <a:ext cx="38404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91440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48656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User Benefits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1353312"/>
            <a:ext cx="3566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personalised network insights, alert users to poor signal zones, demonstrate community impact.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2286000"/>
            <a:ext cx="3977640" cy="128016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286000"/>
            <a:ext cx="384048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286000"/>
            <a:ext cx="384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48656" y="24140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48656" y="2724912"/>
            <a:ext cx="3566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interaction required, smooth UX, maximum 3 feedback prompts per day aligned with survey preference.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4846320"/>
            <a:ext cx="8375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these concerns systematically is essential to drive adoption and ensure high-quality, sustained data collection.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App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3977640" cy="402336"/>
          </a:xfrm>
          <a:prstGeom prst="rect">
            <a:avLst/>
          </a:prstGeom>
          <a:solidFill>
            <a:srgbClr val="1B3A5C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61688" y="868680"/>
            <a:ext cx="4398264" cy="402336"/>
          </a:xfrm>
          <a:prstGeom prst="rect">
            <a:avLst/>
          </a:prstGeom>
          <a:solidFill>
            <a:srgbClr val="1B3A5C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052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9052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 / Design 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271016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271016"/>
            <a:ext cx="43982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075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use Android (94 / 133)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0" y="13075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native Android application first; iOS to follow in a later phase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1728216"/>
            <a:ext cx="397764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728216"/>
            <a:ext cx="4398264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647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133 experience call drops (84.2%)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0" y="1764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log call state, signal strength and drop events in the background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185416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185416"/>
            <a:ext cx="43982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219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 prefer occasional feedback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0" y="22219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in-app prompts at a maximum of 3 per day; use unobtrusive notification style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642616"/>
            <a:ext cx="397764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2642616"/>
            <a:ext cx="4398264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79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69.9% would allow location sharing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26791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coarse GPS for network geo-mapping; provide granular opt-out control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099816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61688" y="3099816"/>
            <a:ext cx="43982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363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concerned about data consumption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0" y="31363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data payloads and restrict synchronisation to Wi-Fi networks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557016"/>
            <a:ext cx="3977640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1688" y="3557016"/>
            <a:ext cx="4398264" cy="457200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935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report internet is often slow (45.9%)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35935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background monitoring of download speed and latency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4014216"/>
            <a:ext cx="3977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61688" y="4014216"/>
            <a:ext cx="439826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507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concerned about privacy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8056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visible privacy policy, user-controlled data sharing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0" indent="0" algn="ctr">
              <a:buNone/>
            </a:pPr>
            <a:r>
              <a:rPr lang="en-US" sz="1100" b="0" i="0" dirty="0">
                <a:solidFill>
                  <a:srgbClr val="F9FAFB"/>
                </a:solidFill>
                <a:effectLst/>
                <a:latin typeface="quote-cjk-patch"/>
              </a:rPr>
              <a:t>“Requirement gathering transformed real user data into a clear, evidence‑based blueprint — prioritizing Android native development, Wi‑Fi‑only syncing, background call‑drop logging, and sparse feedback prompts — ensuring the app is both technically sound and genuinely wanted by subscribers.”</a:t>
            </a:r>
          </a:p>
          <a:p>
            <a:pPr marL="0" indent="0" algn="ctr">
              <a:buNone/>
            </a:pPr>
            <a:endParaRPr lang="en-US" sz="1100" dirty="0">
              <a:solidFill>
                <a:srgbClr val="F9FAFB"/>
              </a:solidFill>
              <a:latin typeface="quote-cjk-patch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4048" y="1463040"/>
            <a:ext cx="2743200" cy="2120601"/>
          </a:xfrm>
          <a:prstGeom prst="rect">
            <a:avLst/>
          </a:prstGeom>
          <a:solidFill>
            <a:srgbClr val="0F2540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90472"/>
            <a:ext cx="2743200" cy="402336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6304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 Defined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1938528"/>
            <a:ext cx="2487168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network performance monitoring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background data collection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prompts capped at 3 per day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controls and opt-in consent flow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453896"/>
            <a:ext cx="2743200" cy="2129745"/>
          </a:xfrm>
          <a:prstGeom prst="rect">
            <a:avLst/>
          </a:prstGeom>
          <a:solidFill>
            <a:srgbClr val="0F2540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09861" y="1453896"/>
            <a:ext cx="2770632" cy="402336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46304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38144" y="1938528"/>
            <a:ext cx="2487168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tables and pivot tables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visualisations for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mapped against objective metrics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trend identification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1463040"/>
            <a:ext cx="2743200" cy="2129745"/>
          </a:xfrm>
          <a:prstGeom prst="rect">
            <a:avLst/>
          </a:prstGeom>
          <a:solidFill>
            <a:srgbClr val="0F2540"/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463040"/>
            <a:ext cx="2743200" cy="402336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8D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46304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4224" y="1938528"/>
            <a:ext cx="2487168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to backend communication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collection 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and storage components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capable system design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681728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"Requirements are user-centred and data-driven — ensuring successful implementation and adoption."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1108</Words>
  <Application>Microsoft Office PowerPoint</Application>
  <PresentationFormat>On-screen Show (16:9)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Petrona Bold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Gathering – Group 2</dc:title>
  <dc:subject>PptxGenJS Presentation</dc:subject>
  <dc:creator>PptxGenJS</dc:creator>
  <cp:lastModifiedBy>TENKEN ULRICH</cp:lastModifiedBy>
  <cp:revision>11</cp:revision>
  <dcterms:created xsi:type="dcterms:W3CDTF">2026-04-27T11:19:37Z</dcterms:created>
  <dcterms:modified xsi:type="dcterms:W3CDTF">2026-04-27T13:06:09Z</dcterms:modified>
</cp:coreProperties>
</file>