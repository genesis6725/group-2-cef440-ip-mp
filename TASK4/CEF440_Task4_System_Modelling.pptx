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937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7315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480560"/>
            <a:ext cx="2560320" cy="6629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502920"/>
            <a:ext cx="16459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02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A8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Modelling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A8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Design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Mobile App — Collection of User Experience Data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Mobile Network Subscribers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160520"/>
            <a:ext cx="20116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4160520"/>
            <a:ext cx="20116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4160520"/>
            <a:ext cx="20116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4507992"/>
            <a:ext cx="20116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07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4507992"/>
            <a:ext cx="20116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4507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4507992"/>
            <a:ext cx="20116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4507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Report Covers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12767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389888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1097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Diagram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4813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 – who interacts with the QoE app and how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389888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67528" y="1097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 Diagram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67528" y="14813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through the system at Level-0 and Level-1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2331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Diagram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271576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functional action available to each actor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624328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67528" y="2331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Diagrams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67528" y="271576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message exchanges for all 10 use cases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858768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3566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Diagram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2688" y="39502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objects, their data fields, and relationships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4747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3858768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67528" y="3566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Diagram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67528" y="39502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artefacts map to real physical hardware nodes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8095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Context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99593" y="623253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system boundary and all external entities that interact with the QoE Mobile App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0" y="2184502"/>
            <a:ext cx="2743200" cy="1188720"/>
          </a:xfrm>
          <a:prstGeom prst="rect">
            <a:avLst/>
          </a:prstGeom>
          <a:solidFill>
            <a:srgbClr val="1A3A6B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0" y="2189988"/>
            <a:ext cx="2743200" cy="1435608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19933" y="2276856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QoE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9593" y="1316736"/>
            <a:ext cx="1417320" cy="9144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16736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82873" y="930402"/>
            <a:ext cx="1315600" cy="752353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82873" y="92125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(GPS/Signal)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1097280"/>
            <a:ext cx="1417320" cy="9144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0972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(SQLite)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0" y="3108960"/>
            <a:ext cx="1417320" cy="9144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1089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13791" y="3665006"/>
            <a:ext cx="1393532" cy="69933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93422" y="3688114"/>
            <a:ext cx="1290691" cy="724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Dashboard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3474720"/>
            <a:ext cx="1417320" cy="9144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4747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solidFill>
            <a:srgbClr val="E8F2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flows: Uses · HTTP/REST · GPS signal · Persist records · Serves data · Views analytics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450D3D-2ADB-8D51-E1EB-8E219FC7094A}"/>
              </a:ext>
            </a:extLst>
          </p:cNvPr>
          <p:cNvSpPr txBox="1"/>
          <p:nvPr/>
        </p:nvSpPr>
        <p:spPr>
          <a:xfrm>
            <a:off x="168915" y="2262897"/>
            <a:ext cx="181101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The Mobile Subscriber is the person using the phone  they interact with the app directly by giving feedback and granting permissions</a:t>
            </a:r>
            <a:r>
              <a:rPr lang="en-US" b="1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3DBB87-84E8-26AA-0DD6-B2C7507D3400}"/>
              </a:ext>
            </a:extLst>
          </p:cNvPr>
          <p:cNvSpPr txBox="1"/>
          <p:nvPr/>
        </p:nvSpPr>
        <p:spPr>
          <a:xfrm>
            <a:off x="2599916" y="1707082"/>
            <a:ext cx="394993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things like the Android GPS and network info APIs  supply the app with signal strength and location data automatically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623D35-1B13-57A0-12E1-1D6AF9E884EC}"/>
              </a:ext>
            </a:extLst>
          </p:cNvPr>
          <p:cNvSpPr txBox="1"/>
          <p:nvPr/>
        </p:nvSpPr>
        <p:spPr>
          <a:xfrm>
            <a:off x="6383814" y="1970691"/>
            <a:ext cx="259127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Local SQLite Database sits on the device and stores data locally when there is no internet connection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0ACFEC-B544-7A5E-B894-E54D85C502BB}"/>
              </a:ext>
            </a:extLst>
          </p:cNvPr>
          <p:cNvSpPr txBox="1"/>
          <p:nvPr/>
        </p:nvSpPr>
        <p:spPr>
          <a:xfrm>
            <a:off x="6324129" y="4028427"/>
            <a:ext cx="259127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Server is a cloud server that receives all the collected data via HTTP.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C2DA1C-13FD-38AA-165F-18A186CEDA0B}"/>
              </a:ext>
            </a:extLst>
          </p:cNvPr>
          <p:cNvSpPr txBox="1"/>
          <p:nvPr/>
        </p:nvSpPr>
        <p:spPr>
          <a:xfrm>
            <a:off x="3990707" y="4350310"/>
            <a:ext cx="161740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QoE Dashboard is a web interface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CAC310-5E97-1837-9602-65A0DEF4A36C}"/>
              </a:ext>
            </a:extLst>
          </p:cNvPr>
          <p:cNvSpPr txBox="1"/>
          <p:nvPr/>
        </p:nvSpPr>
        <p:spPr>
          <a:xfrm>
            <a:off x="1626234" y="3567574"/>
            <a:ext cx="139372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Operators are the analysts and engineers who log into that dashboard to view the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Data Flow Diagram (DFD)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Level-0 shows the overall system; Level-1 decomposes the app into 4 internal processes and 2 data stores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2560320" cy="320040"/>
          </a:xfrm>
          <a:prstGeom prst="rect">
            <a:avLst/>
          </a:prstGeom>
          <a:solidFill>
            <a:srgbClr val="1A3A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LEVEL-0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56032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LEVEL-0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28600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Subscriber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2286000" cy="502920"/>
          </a:xfrm>
          <a:prstGeom prst="rect">
            <a:avLst/>
          </a:prstGeom>
          <a:solidFill>
            <a:srgbClr val="2196C4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Mobile App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06624"/>
            <a:ext cx="228600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066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28416"/>
            <a:ext cx="228600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284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228600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502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1051560"/>
            <a:ext cx="57150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08960" y="1051560"/>
            <a:ext cx="5715000" cy="32004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1051560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LEVEL-1 — Internal App Processes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1481328"/>
            <a:ext cx="329184" cy="32918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30752" y="14447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 Collector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30752" y="173736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Signal/GPS from External APIs → writes metric records to DS1 (SQLite)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2231136"/>
            <a:ext cx="329184" cy="32918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30752" y="21945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Capture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30752" y="248716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subscriber → captures rating &amp; consent → writes feedback to DS1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2980944"/>
            <a:ext cx="329184" cy="32918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30752" y="294436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Settings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30752" y="3236976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metrics from DS1 → generates QoE reports → handles operator config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3730752"/>
            <a:ext cx="329184" cy="32918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30752" y="369417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Sync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30752" y="3986784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pending records from DS1 → queues in DS2 → uploads to Backend Server on ACK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08960" y="4251960"/>
            <a:ext cx="274320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0" y="4251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  Local SQLite 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 on-device store)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80760" y="4251960"/>
            <a:ext cx="2743200" cy="502920"/>
          </a:xfrm>
          <a:prstGeom prst="rect">
            <a:avLst/>
          </a:prstGeom>
          <a:solidFill>
            <a:srgbClr val="EDE7F6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4251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DS2  Upload Queue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(staging batches for sync)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functional interactions grouped by actor — Mobile Subscriber and Network Operator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65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Mobile Subscriber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14800" cy="530352"/>
          </a:xfrm>
          <a:prstGeom prst="rect">
            <a:avLst/>
          </a:prstGeom>
          <a:solidFill>
            <a:srgbClr val="E8F2FA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Satisfaction Rating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67128"/>
            <a:ext cx="4114800" cy="530352"/>
          </a:xfrm>
          <a:prstGeom prst="rect">
            <a:avLst/>
          </a:prstGeom>
          <a:solidFill>
            <a:srgbClr val="E8F2FA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6712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Privacy Notice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825496"/>
            <a:ext cx="4114800" cy="530352"/>
          </a:xfrm>
          <a:prstGeom prst="rect">
            <a:avLst/>
          </a:prstGeom>
          <a:solidFill>
            <a:srgbClr val="E8F2FA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2549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Prompt Frequency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483864"/>
            <a:ext cx="4114800" cy="530352"/>
          </a:xfrm>
          <a:prstGeom prst="rect">
            <a:avLst/>
          </a:prstGeom>
          <a:solidFill>
            <a:srgbClr val="E8F2FA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8386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or Revoke Permissions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142232"/>
            <a:ext cx="4114800" cy="530352"/>
          </a:xfrm>
          <a:prstGeom prst="rect">
            <a:avLst/>
          </a:prstGeom>
          <a:solidFill>
            <a:srgbClr val="E8F2FA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4223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Data Deletion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800600"/>
            <a:ext cx="4114800" cy="246888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0060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(Background): Collect Network Metrics · Sync Data to Server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1005840"/>
            <a:ext cx="4114800" cy="365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 Network Operator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508760"/>
            <a:ext cx="4114800" cy="530352"/>
          </a:xfrm>
          <a:prstGeom prst="rect">
            <a:avLst/>
          </a:prstGeom>
          <a:solidFill>
            <a:srgbClr val="EEF4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5087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QoE Dashboard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167128"/>
            <a:ext cx="4114800" cy="530352"/>
          </a:xfrm>
          <a:prstGeom prst="rect">
            <a:avLst/>
          </a:prstGeom>
          <a:solidFill>
            <a:srgbClr val="EEF4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6712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Alert Thresholds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825496"/>
            <a:ext cx="4114800" cy="530352"/>
          </a:xfrm>
          <a:prstGeom prst="rect">
            <a:avLst/>
          </a:prstGeom>
          <a:solidFill>
            <a:srgbClr val="EEF4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82549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Metrics Report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3977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 cases total: 5 subscriber + 2 system background + 3 operator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Sequence Diagrams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diagrams — one per use case — showing time-ordered messages between system components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1234440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2104" y="106984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 Satisfaction Rating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" y="135331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· Feedback Svc · Metric Collector · Local DB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93192" y="155448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prompt → rating submit → metric snapshot → INSERT → ACK → confirm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782312" y="1024128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55464" y="1234440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94376" y="106984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Prompt Frequency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94376" y="135331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· Settings Svc · Local DB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55464" y="155448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settings → read interval → set new value → UPDATE → ACK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1847088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3192" y="2057400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" y="1892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Grant / Revoke Permissions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" y="2176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· QoE App · Android OS · Local DB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3192" y="237744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request → dialog → grant/deny → SAVE consent → enable/disable collectors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82312" y="1847088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55464" y="2057400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94376" y="1892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Privacy Notice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94376" y="2176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· QoE App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55464" y="237744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notice → display statement → acknowledge &amp; close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2670048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93192" y="2880360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104" y="271576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Data Deletion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2104" y="299923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· QoE App · Local DB · Backend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93192" y="320040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confirm dialog → DELETE local → DELETE server → 200 OK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82312" y="2670048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55464" y="2880360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55464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94376" y="271576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 Network Metrics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94376" y="299923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Timer · Metric Collector · External APIs · Local DB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55464" y="320040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onTimer every 5 min → GET dBm/type/GPS → INSERT record → ACK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20040" y="3493008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93192" y="3703320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3192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2104" y="35387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 Data to Server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32104" y="382219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Svc · Local DB · Upload Queue · Backend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93192" y="402336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pending → enqueue batch → POST /metrics → 200 OK → mark uploaded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82312" y="3493008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55464" y="3703320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94376" y="35387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QoE Dashboard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94376" y="382219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Operator · Dashboard UI · Backend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855464" y="402336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GET /metrics?range=7d → render charts → filter by region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20040" y="4315968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93192" y="4526280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32104" y="436168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Alert Thresholds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32104" y="464515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Operator · Backend · QoE App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93192" y="48463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/thresholds {dBm:-100} → validate → 200 OK → PUSH config to app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782312" y="4315968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855464" y="4526280"/>
            <a:ext cx="329184" cy="329184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55464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94376" y="436168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Metrics Report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294376" y="464515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Operator · Backend · Export Svc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855464" y="48463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CSV/PDF → aggregate data → format report → download link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DEEP-DIVE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 Network Metrics (Background)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46304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88720" y="1783080"/>
            <a:ext cx="0" cy="2971800"/>
          </a:xfrm>
          <a:prstGeom prst="line">
            <a:avLst/>
          </a:prstGeom>
          <a:noFill/>
          <a:ln w="12700">
            <a:solidFill>
              <a:srgbClr val="3A5580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2651760" y="1234440"/>
            <a:ext cx="146304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0" cy="2971800"/>
          </a:xfrm>
          <a:prstGeom prst="line">
            <a:avLst/>
          </a:prstGeom>
          <a:noFill/>
          <a:ln w="12700">
            <a:solidFill>
              <a:srgbClr val="3A5580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4846320" y="1234440"/>
            <a:ext cx="146304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1783080"/>
            <a:ext cx="0" cy="2971800"/>
          </a:xfrm>
          <a:prstGeom prst="line">
            <a:avLst/>
          </a:prstGeom>
          <a:noFill/>
          <a:ln w="12700">
            <a:solidFill>
              <a:srgbClr val="3A5580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7040880" y="1234440"/>
            <a:ext cx="146304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1783080"/>
            <a:ext cx="0" cy="2971800"/>
          </a:xfrm>
          <a:prstGeom prst="line">
            <a:avLst/>
          </a:prstGeom>
          <a:noFill/>
          <a:ln w="12700">
            <a:solidFill>
              <a:srgbClr val="3A5580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1188720" y="1920240"/>
            <a:ext cx="2194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17373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onTimer()  — every 5 minutes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2286000"/>
            <a:ext cx="2194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1031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signal strength (dBm)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2606040"/>
            <a:ext cx="219456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ysDash"/>
          </a:ln>
        </p:spPr>
      </p:sp>
      <p:sp>
        <p:nvSpPr>
          <p:cNvPr id="22" name="Text 20"/>
          <p:cNvSpPr/>
          <p:nvPr/>
        </p:nvSpPr>
        <p:spPr>
          <a:xfrm>
            <a:off x="3474720" y="24231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–87 dBm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2926080"/>
            <a:ext cx="2194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7432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network type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3246120"/>
            <a:ext cx="219456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ysDash"/>
          </a:ln>
        </p:spPr>
      </p:sp>
      <p:sp>
        <p:nvSpPr>
          <p:cNvPr id="26" name="Text 24"/>
          <p:cNvSpPr/>
          <p:nvPr/>
        </p:nvSpPr>
        <p:spPr>
          <a:xfrm>
            <a:off x="3474720" y="30632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4G / 5G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3566160"/>
            <a:ext cx="2194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33832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GPS coordinates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83280" y="3886200"/>
            <a:ext cx="219456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ysDash"/>
          </a:ln>
        </p:spPr>
      </p:sp>
      <p:sp>
        <p:nvSpPr>
          <p:cNvPr id="30" name="Text 28"/>
          <p:cNvSpPr/>
          <p:nvPr/>
        </p:nvSpPr>
        <p:spPr>
          <a:xfrm>
            <a:off x="3474720" y="37033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lat, lng, accuracy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4206240"/>
            <a:ext cx="43891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402336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metric record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4526280"/>
            <a:ext cx="4389120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sysDash"/>
          </a:ln>
        </p:spPr>
      </p:sp>
      <p:sp>
        <p:nvSpPr>
          <p:cNvPr id="34" name="Text 32"/>
          <p:cNvSpPr/>
          <p:nvPr/>
        </p:nvSpPr>
        <p:spPr>
          <a:xfrm>
            <a:off x="3474720" y="434340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(row_id)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Class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classes — attributes, operations, and associations that form the static software structure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Subscriber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081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subscriberId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6093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name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phoneNumber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location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2249424"/>
            <a:ext cx="2788920" cy="694944"/>
          </a:xfrm>
          <a:prstGeom prst="rect">
            <a:avLst/>
          </a:prstGeom>
          <a:solidFill>
            <a:srgbClr val="E8F2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042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login()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5054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logout()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70662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updateProfile()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2788920" cy="347472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0058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MobileApp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353312"/>
            <a:ext cx="2788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4081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appVersion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16093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isConnected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37560" y="18105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collectionInterval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46120" y="2048256"/>
            <a:ext cx="2788920" cy="896112"/>
          </a:xfrm>
          <a:prstGeom prst="rect">
            <a:avLst/>
          </a:prstGeom>
          <a:solidFill>
            <a:srgbClr val="E8F2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1031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collectData()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37560" y="23042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sendData()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37560" y="25054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syncToServer()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7560" y="270662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saveLocally()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1005840"/>
            <a:ext cx="278892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0058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QoEMeasurement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353312"/>
            <a:ext cx="27889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4081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measurementId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09360" y="16093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timestamp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09360" y="18105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signalStrength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09360" y="20116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latency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09360" y="22128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packetLoss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09360" y="24140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downloadSpeed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09360" y="26151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uploadSpeed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09360" y="28163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gpsLocation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17920" y="3054096"/>
            <a:ext cx="2788920" cy="694944"/>
          </a:xfrm>
          <a:prstGeom prst="rect">
            <a:avLst/>
          </a:prstGeom>
          <a:solidFill>
            <a:srgbClr val="E8F2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1089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recordMeasurement()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09360" y="33101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getMeasurementData()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09360" y="35112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calculateScore()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337560"/>
            <a:ext cx="278892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3375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LocalDatabase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3685032"/>
            <a:ext cx="2788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7398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dbPath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5760" y="39410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dbVersion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" y="4142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lastSyncTime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379976"/>
            <a:ext cx="2788920" cy="896112"/>
          </a:xfrm>
          <a:prstGeom prst="rect">
            <a:avLst/>
          </a:prstGeom>
          <a:solidFill>
            <a:srgbClr val="E8F2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434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saveRecord()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65760" y="46360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getRecords()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65760" y="48371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syncWithServer()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5760" y="50383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clearOldRecords()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46120" y="3337560"/>
            <a:ext cx="27889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46120" y="33375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BackendServer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46120" y="3685032"/>
            <a:ext cx="2788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37398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serverUrl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37560" y="39410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apiVersion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337560" y="4142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isOnline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46120" y="4379976"/>
            <a:ext cx="2788920" cy="896112"/>
          </a:xfrm>
          <a:prstGeom prst="rect">
            <a:avLst/>
          </a:prstGeom>
          <a:solidFill>
            <a:srgbClr val="E8F2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37560" y="4434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receiveData()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337560" y="46360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processData()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337560" y="48371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storeData()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337560" y="50383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serveData()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217920" y="3337560"/>
            <a:ext cx="2788920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0" y="33375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217920" y="3685032"/>
            <a:ext cx="2788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09360" y="37398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dashboardUrl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309360" y="39410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refreshRate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309360" y="4142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activeUsers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217920" y="4379976"/>
            <a:ext cx="2788920" cy="694944"/>
          </a:xfrm>
          <a:prstGeom prst="rect">
            <a:avLst/>
          </a:prstGeom>
          <a:solidFill>
            <a:srgbClr val="E8F2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09360" y="4434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displayData()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09360" y="46360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generateReport()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309360" y="48371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filterData()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Deployment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distribution of software artefacts across hardware nodes and their communication links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28600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28600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Mobile Device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" y="1572768"/>
            <a:ext cx="2066544" cy="384048"/>
          </a:xfrm>
          <a:prstGeom prst="rect">
            <a:avLst/>
          </a:prstGeom>
          <a:solidFill>
            <a:srgbClr val="E8F2FA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7276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QoE Mobile App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" y="2075688"/>
            <a:ext cx="2066544" cy="384048"/>
          </a:xfrm>
          <a:prstGeom prst="rect">
            <a:avLst/>
          </a:prstGeom>
          <a:solidFill>
            <a:srgbClr val="E8F2FA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07568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Local DB (SQLite)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1097280"/>
            <a:ext cx="22860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097280"/>
            <a:ext cx="228600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097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Application Server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38728" y="1572768"/>
            <a:ext cx="2066544" cy="384048"/>
          </a:xfrm>
          <a:prstGeom prst="rect">
            <a:avLst/>
          </a:prstGeom>
          <a:solidFill>
            <a:srgbClr val="E8F2FA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8728" y="157276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Backend Server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37960" y="1097280"/>
            <a:ext cx="22860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1097280"/>
            <a:ext cx="228600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097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Database Server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47688" y="1572768"/>
            <a:ext cx="2066544" cy="384048"/>
          </a:xfrm>
          <a:prstGeom prst="rect">
            <a:avLst/>
          </a:prstGeom>
          <a:solidFill>
            <a:srgbClr val="E8F2FA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157276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QoE Database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29000" y="3200400"/>
            <a:ext cx="22860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29000" y="3200400"/>
            <a:ext cx="22860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200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Web Server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38728" y="3675888"/>
            <a:ext cx="2066544" cy="384048"/>
          </a:xfrm>
          <a:prstGeom prst="rect">
            <a:avLst/>
          </a:prstGeom>
          <a:solidFill>
            <a:srgbClr val="E8F2FA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367588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QoE Dashboard (Web UI)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06040" y="1874520"/>
            <a:ext cx="822960" cy="0"/>
          </a:xfrm>
          <a:prstGeom prst="line">
            <a:avLst/>
          </a:prstGeom>
          <a:noFill/>
          <a:ln w="12700">
            <a:solidFill>
              <a:srgbClr val="2196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51760" y="1737360"/>
            <a:ext cx="7772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1737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HTTP/REST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15000" y="1874520"/>
            <a:ext cx="822960" cy="0"/>
          </a:xfrm>
          <a:prstGeom prst="line">
            <a:avLst/>
          </a:prstGeom>
          <a:noFill/>
          <a:ln w="12700">
            <a:solidFill>
              <a:srgbClr val="2196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1737360"/>
            <a:ext cx="7772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1737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JDBC/SQL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0" y="2423160"/>
            <a:ext cx="0" cy="777240"/>
          </a:xfrm>
          <a:prstGeom prst="line">
            <a:avLst/>
          </a:prstGeom>
          <a:noFill/>
          <a:ln w="12700">
            <a:solidFill>
              <a:srgbClr val="2196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06240" y="2674620"/>
            <a:ext cx="7772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26746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0040" y="4069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Mobile Subscriber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(uses app)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29000" y="4069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Network Operator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(views dashboard)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25196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53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3533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Offline-First Architecture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 (DS1) + upload queue (DS2) ensure uninterrupted metric collection even when mobile data is unavailable.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82312" y="1280160"/>
            <a:ext cx="425196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73752" y="1353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68112" y="13533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 Collection Every 5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68112" y="171907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timer autonomously fires the metric collector — no user action required after initial setup.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425196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25877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by Design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95351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flows for permission management, privacy notice, and data deletion reflect compliance with user consent principles.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82312" y="2514600"/>
            <a:ext cx="425196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73752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68112" y="25877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68112" y="295351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subscribers and network operators have entirely separate interaction paths and interfaces.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749040"/>
            <a:ext cx="425196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822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38221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RESTful Communication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18795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client-to-server and server-to-dashboard traffic uses HTTP/REST for scalability and easy integration.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82312" y="3749040"/>
            <a:ext cx="425196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73752" y="3822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68112" y="38221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Three-Tier Architecture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68112" y="418795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 → Application server → Web dashboard. Clean separation of concerns, easy to scale each tier independently.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7315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4 — Complete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352044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762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Context Diagram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43230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 &amp; external actors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2807208"/>
            <a:ext cx="352044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346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Data Flow Diagram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0906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Level-0 &amp; Level-1 data flows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3465576"/>
            <a:ext cx="352044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930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Use Case Diagram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7490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 cases across 2 actors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148840"/>
            <a:ext cx="352044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762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Sequence Diagrams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43230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interaction flows modelled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807208"/>
            <a:ext cx="352044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8346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Class Diagram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0906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 with full attributes &amp; ops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3465576"/>
            <a:ext cx="352044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4930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Deployment Diagram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7490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physical nodes &amp; comms links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A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 ·  System Modelling &amp; Design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1236</Words>
  <Application>Microsoft Office PowerPoint</Application>
  <PresentationFormat>On-screen Show (16:9)</PresentationFormat>
  <Paragraphs>271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CEF440 Task 4 – System Modelling &amp; Design</dc:title>
  <dc:subject>PptxGenJS Presentation</dc:subject>
  <dc:creator>PptxGenJS</dc:creator>
  <cp:lastModifiedBy>EFUETNGONG GENESIS TAZISONG</cp:lastModifiedBy>
  <cp:revision>3</cp:revision>
  <dcterms:created xsi:type="dcterms:W3CDTF">2026-05-26T00:09:56Z</dcterms:created>
  <dcterms:modified xsi:type="dcterms:W3CDTF">2026-05-26T03:38:41Z</dcterms:modified>
</cp:coreProperties>
</file>